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67" r:id="rId3"/>
    <p:sldId id="269" r:id="rId4"/>
    <p:sldId id="257" r:id="rId5"/>
    <p:sldId id="258" r:id="rId6"/>
    <p:sldId id="259" r:id="rId7"/>
    <p:sldId id="262" r:id="rId8"/>
    <p:sldId id="264" r:id="rId9"/>
    <p:sldId id="265" r:id="rId10"/>
    <p:sldId id="260" r:id="rId11"/>
    <p:sldId id="261" r:id="rId12"/>
    <p:sldId id="270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1" autoAdjust="0"/>
    <p:restoredTop sz="94610"/>
  </p:normalViewPr>
  <p:slideViewPr>
    <p:cSldViewPr snapToGrid="0" snapToObjects="1">
      <p:cViewPr>
        <p:scale>
          <a:sx n="87" d="100"/>
          <a:sy n="87" d="100"/>
        </p:scale>
        <p:origin x="9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LCOT\Downloads\e%20commerce%20data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COT\Downloads\e%20commerce%20data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data.xlsx]charts!PivotTable17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</a:t>
            </a:r>
            <a:r>
              <a:rPr lang="en-US" baseline="0"/>
              <a:t> sales</a:t>
            </a:r>
            <a:endParaRPr lang="en-US"/>
          </a:p>
        </c:rich>
      </c:tx>
      <c:layout>
        <c:manualLayout>
          <c:xMode val="edge"/>
          <c:yMode val="edge"/>
          <c:x val="0.49274238269714882"/>
          <c:y val="1.5683604196801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6958877716459532"/>
          <c:y val="0.16532546835597339"/>
          <c:w val="0.46468594948636299"/>
          <c:h val="0.6757437704234017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charts!$B$21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charts!$A$22:$A$32</c:f>
              <c:strCache>
                <c:ptCount val="10"/>
                <c:pt idx="0">
                  <c:v>Standing Desk Converter</c:v>
                </c:pt>
                <c:pt idx="1">
                  <c:v>Ergonomic Office Chair</c:v>
                </c:pt>
                <c:pt idx="2">
                  <c:v>Corner L-Shaped Desk</c:v>
                </c:pt>
                <c:pt idx="3">
                  <c:v>Mesh Back Task Chair</c:v>
                </c:pt>
                <c:pt idx="4">
                  <c:v>Wireless Bluetooth Headphones</c:v>
                </c:pt>
                <c:pt idx="5">
                  <c:v>Mechanical Gaming Keyboard</c:v>
                </c:pt>
                <c:pt idx="6">
                  <c:v>Filing Cabinet 3-Drawer</c:v>
                </c:pt>
                <c:pt idx="7">
                  <c:v>Folding Table Portable</c:v>
                </c:pt>
                <c:pt idx="8">
                  <c:v>Portable External SSD 1TB</c:v>
                </c:pt>
                <c:pt idx="9">
                  <c:v>Bookshelf 5-Tier</c:v>
                </c:pt>
              </c:strCache>
            </c:strRef>
          </c:cat>
          <c:val>
            <c:numRef>
              <c:f>charts!$B$22:$B$32</c:f>
              <c:numCache>
                <c:formatCode>"₹"\ #,##0.00</c:formatCode>
                <c:ptCount val="10"/>
                <c:pt idx="0">
                  <c:v>42242.299999999988</c:v>
                </c:pt>
                <c:pt idx="1">
                  <c:v>41015.689999999988</c:v>
                </c:pt>
                <c:pt idx="2">
                  <c:v>34920.749999999993</c:v>
                </c:pt>
                <c:pt idx="3">
                  <c:v>32246.979999999996</c:v>
                </c:pt>
                <c:pt idx="4">
                  <c:v>25336.090000000004</c:v>
                </c:pt>
                <c:pt idx="5">
                  <c:v>22625.78</c:v>
                </c:pt>
                <c:pt idx="6">
                  <c:v>21876.03</c:v>
                </c:pt>
                <c:pt idx="7">
                  <c:v>18254.219999999994</c:v>
                </c:pt>
                <c:pt idx="8">
                  <c:v>16858.789999999997</c:v>
                </c:pt>
                <c:pt idx="9">
                  <c:v>16488.900000000001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67-4FF6-BC65-FEF97A1E4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2148959"/>
        <c:axId val="1922805743"/>
      </c:barChart>
      <c:catAx>
        <c:axId val="712148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sis MT Pro Black" panose="02040A04050005020304" pitchFamily="18" charset="0"/>
                <a:ea typeface="+mn-ea"/>
                <a:cs typeface="+mn-cs"/>
              </a:defRPr>
            </a:pPr>
            <a:endParaRPr lang="en-US"/>
          </a:p>
        </c:txPr>
        <c:crossAx val="1922805743"/>
        <c:crosses val="autoZero"/>
        <c:auto val="1"/>
        <c:lblAlgn val="ctr"/>
        <c:lblOffset val="100"/>
        <c:noMultiLvlLbl val="0"/>
      </c:catAx>
      <c:valAx>
        <c:axId val="1922805743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dk1"/>
              </a:solidFill>
              <a:prstDash val="solid"/>
              <a:miter lim="800000"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pPr>
            <a:endParaRPr lang="en-US"/>
          </a:p>
        </c:txPr>
        <c:crossAx val="712148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4">
            <a:lumMod val="20000"/>
            <a:lumOff val="80000"/>
            <a:shade val="30000"/>
            <a:satMod val="115000"/>
          </a:schemeClr>
        </a:gs>
        <a:gs pos="50000">
          <a:schemeClr val="accent4">
            <a:lumMod val="20000"/>
            <a:lumOff val="80000"/>
            <a:shade val="67500"/>
            <a:satMod val="115000"/>
          </a:schemeClr>
        </a:gs>
        <a:gs pos="100000">
          <a:schemeClr val="accent4">
            <a:lumMod val="20000"/>
            <a:lumOff val="80000"/>
            <a:shade val="100000"/>
            <a:satMod val="115000"/>
          </a:schemeClr>
        </a:gs>
      </a:gsLst>
      <a:lin ang="16200000" scaled="1"/>
      <a:tileRect/>
    </a:gradFill>
    <a:ln w="9525" cap="flat" cmpd="sng" algn="ctr">
      <a:noFill/>
      <a:round/>
    </a:ln>
    <a:effectLst>
      <a:glow rad="139700">
        <a:schemeClr val="accent1">
          <a:satMod val="175000"/>
          <a:alpha val="40000"/>
        </a:schemeClr>
      </a:glow>
      <a:innerShdw blurRad="114300">
        <a:prstClr val="black"/>
      </a:inn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data.xlsx]charts!PivotTable21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</a:t>
            </a:r>
            <a:r>
              <a:rPr lang="en-US" baseline="0"/>
              <a:t> sales</a:t>
            </a:r>
            <a:endParaRPr lang="en-US"/>
          </a:p>
        </c:rich>
      </c:tx>
      <c:layout>
        <c:manualLayout>
          <c:xMode val="edge"/>
          <c:yMode val="edge"/>
          <c:x val="0.37861628856118712"/>
          <c:y val="3.56486686593358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6452981872856568E-2"/>
          <c:y val="0.19734685820357956"/>
          <c:w val="0.83428515736588515"/>
          <c:h val="0.51288475923976284"/>
        </c:manualLayout>
      </c:layout>
      <c:bar3DChart>
        <c:barDir val="col"/>
        <c:grouping val="percentStacked"/>
        <c:varyColors val="0"/>
        <c:ser>
          <c:idx val="0"/>
          <c:order val="0"/>
          <c:tx>
            <c:strRef>
              <c:f>charts!$AR$19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charts!$AQ$20:$AQ$24</c:f>
              <c:strCache>
                <c:ptCount val="4"/>
                <c:pt idx="0">
                  <c:v>Furniture</c:v>
                </c:pt>
                <c:pt idx="1">
                  <c:v>Technology</c:v>
                </c:pt>
                <c:pt idx="2">
                  <c:v>Clothing &amp; Accessories</c:v>
                </c:pt>
                <c:pt idx="3">
                  <c:v>Office Supplies</c:v>
                </c:pt>
              </c:strCache>
            </c:strRef>
          </c:cat>
          <c:val>
            <c:numRef>
              <c:f>charts!$AR$20:$AR$24</c:f>
              <c:numCache>
                <c:formatCode>"₹"\ #,##0.00</c:formatCode>
                <c:ptCount val="4"/>
                <c:pt idx="0">
                  <c:v>229048.17000000004</c:v>
                </c:pt>
                <c:pt idx="1">
                  <c:v>128007.06999999998</c:v>
                </c:pt>
                <c:pt idx="2">
                  <c:v>65715.930000000051</c:v>
                </c:pt>
                <c:pt idx="3">
                  <c:v>18093.32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73-48C0-A80F-5CD6396E1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17083631"/>
        <c:axId val="1922779343"/>
        <c:axId val="0"/>
      </c:bar3DChart>
      <c:catAx>
        <c:axId val="717083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ooper Black" panose="0208090404030B020404" pitchFamily="18" charset="0"/>
                <a:ea typeface="+mn-ea"/>
                <a:cs typeface="+mn-cs"/>
              </a:defRPr>
            </a:pPr>
            <a:endParaRPr lang="en-US"/>
          </a:p>
        </c:txPr>
        <c:crossAx val="1922779343"/>
        <c:crosses val="autoZero"/>
        <c:auto val="1"/>
        <c:lblAlgn val="ctr"/>
        <c:lblOffset val="100"/>
        <c:noMultiLvlLbl val="0"/>
      </c:catAx>
      <c:valAx>
        <c:axId val="1922779343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dk1"/>
              </a:solidFill>
              <a:prstDash val="solid"/>
              <a:miter lim="800000"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ras Bold ITC" panose="020B0907030504020204" pitchFamily="34" charset="0"/>
                <a:ea typeface="+mn-ea"/>
                <a:cs typeface="+mn-cs"/>
              </a:defRPr>
            </a:pPr>
            <a:endParaRPr lang="en-US"/>
          </a:p>
        </c:txPr>
        <c:crossAx val="717083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4">
            <a:lumMod val="20000"/>
            <a:lumOff val="80000"/>
            <a:shade val="30000"/>
            <a:satMod val="115000"/>
          </a:schemeClr>
        </a:gs>
        <a:gs pos="50000">
          <a:schemeClr val="accent4">
            <a:lumMod val="20000"/>
            <a:lumOff val="80000"/>
            <a:shade val="67500"/>
            <a:satMod val="115000"/>
          </a:schemeClr>
        </a:gs>
        <a:gs pos="100000">
          <a:schemeClr val="accent4">
            <a:lumMod val="20000"/>
            <a:lumOff val="80000"/>
            <a:shade val="100000"/>
            <a:satMod val="115000"/>
          </a:schemeClr>
        </a:gs>
      </a:gsLst>
      <a:lin ang="0" scaled="1"/>
      <a:tileRect/>
    </a:gradFill>
    <a:ln w="9525" cap="flat" cmpd="sng" algn="ctr">
      <a:noFill/>
      <a:round/>
    </a:ln>
    <a:effectLst>
      <a:glow rad="139700">
        <a:schemeClr val="accent1">
          <a:satMod val="175000"/>
          <a:alpha val="40000"/>
        </a:schemeClr>
      </a:glow>
      <a:innerShdw blurRad="114300">
        <a:prstClr val="black"/>
      </a:inn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data.xlsx]charts!PivotTable19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price</a:t>
            </a:r>
            <a:r>
              <a:rPr lang="en-US" baseline="0"/>
              <a:t> tier</a:t>
            </a:r>
            <a:endParaRPr lang="en-US"/>
          </a:p>
        </c:rich>
      </c:tx>
      <c:layout>
        <c:manualLayout>
          <c:xMode val="edge"/>
          <c:yMode val="edge"/>
          <c:x val="0.43740308345968293"/>
          <c:y val="2.82971616073576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8275748908186915"/>
          <c:y val="0.15385176666997452"/>
          <c:w val="0.62404571303587053"/>
          <c:h val="0.62159267336859136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charts!$Z$21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charts!$Y$22:$Y$25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charts!$Z$22:$Z$25</c:f>
              <c:numCache>
                <c:formatCode>"₹"\ #,##0.00</c:formatCode>
                <c:ptCount val="3"/>
                <c:pt idx="0">
                  <c:v>840</c:v>
                </c:pt>
                <c:pt idx="1">
                  <c:v>756</c:v>
                </c:pt>
                <c:pt idx="2">
                  <c:v>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3A-43AF-8EF6-4A751A52C3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17082703"/>
        <c:axId val="1922722223"/>
        <c:axId val="1888671663"/>
      </c:bar3DChart>
      <c:catAx>
        <c:axId val="71708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lawik Semibold" panose="020B0702040204020203" pitchFamily="34" charset="0"/>
                <a:ea typeface="ADLaM Display" panose="02010000000000000000" pitchFamily="2" charset="0"/>
                <a:cs typeface="ADLaM Display" panose="02010000000000000000" pitchFamily="2" charset="0"/>
              </a:defRPr>
            </a:pPr>
            <a:endParaRPr lang="en-US"/>
          </a:p>
        </c:txPr>
        <c:crossAx val="1922722223"/>
        <c:crosses val="autoZero"/>
        <c:auto val="1"/>
        <c:lblAlgn val="ctr"/>
        <c:lblOffset val="100"/>
        <c:noMultiLvlLbl val="0"/>
      </c:catAx>
      <c:valAx>
        <c:axId val="1922722223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dk1"/>
              </a:solidFill>
              <a:prstDash val="solid"/>
              <a:miter lim="800000"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lawik Semibold" panose="020B0702040204020203" pitchFamily="34" charset="0"/>
                <a:ea typeface="ADLaM Display" panose="02010000000000000000" pitchFamily="2" charset="0"/>
                <a:cs typeface="ADLaM Display" panose="02010000000000000000" pitchFamily="2" charset="0"/>
              </a:defRPr>
            </a:pPr>
            <a:endParaRPr lang="en-US"/>
          </a:p>
        </c:txPr>
        <c:crossAx val="717082703"/>
        <c:crosses val="autoZero"/>
        <c:crossBetween val="between"/>
      </c:valAx>
      <c:serAx>
        <c:axId val="188867166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2722223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4">
            <a:lumMod val="20000"/>
            <a:lumOff val="80000"/>
            <a:shade val="30000"/>
            <a:satMod val="115000"/>
          </a:schemeClr>
        </a:gs>
        <a:gs pos="50000">
          <a:schemeClr val="accent4">
            <a:lumMod val="20000"/>
            <a:lumOff val="80000"/>
            <a:shade val="67500"/>
            <a:satMod val="115000"/>
          </a:schemeClr>
        </a:gs>
        <a:gs pos="100000">
          <a:schemeClr val="accent4">
            <a:lumMod val="20000"/>
            <a:lumOff val="80000"/>
            <a:shade val="100000"/>
            <a:satMod val="115000"/>
          </a:schemeClr>
        </a:gs>
      </a:gsLst>
      <a:lin ang="18900000" scaled="1"/>
      <a:tileRect/>
    </a:gradFill>
    <a:ln w="9525" cap="flat" cmpd="sng" algn="ctr">
      <a:noFill/>
      <a:round/>
    </a:ln>
    <a:effectLst>
      <a:glow rad="139700">
        <a:schemeClr val="accent1">
          <a:satMod val="175000"/>
          <a:alpha val="40000"/>
        </a:schemeClr>
      </a:glow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data.xlsx]charts!PivotTable18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Customer segment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</c:pivotFmt>
      <c:pivotFmt>
        <c:idx val="6"/>
      </c:pivotFmt>
      <c:pivotFmt>
        <c:idx val="7"/>
      </c:pivotFmt>
      <c:pivotFmt>
        <c:idx val="8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charts!$S$21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848-442B-BA0B-1630EC71CFC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848-442B-BA0B-1630EC71CFC4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848-442B-BA0B-1630EC71CFC4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charts!$R$22:$R$25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charts!$S$22:$S$25</c:f>
              <c:numCache>
                <c:formatCode>"₹"\ #,##0.00</c:formatCode>
                <c:ptCount val="3"/>
                <c:pt idx="0">
                  <c:v>234573.86000000002</c:v>
                </c:pt>
                <c:pt idx="1">
                  <c:v>130088.52999999991</c:v>
                </c:pt>
                <c:pt idx="2">
                  <c:v>76202.099999999919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48-442B-BA0B-1630EC71CFC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352941176470592"/>
          <c:y val="0.34814149034908687"/>
          <c:w val="0.17082352941176471"/>
          <c:h val="0.28561049045160014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4">
            <a:lumMod val="20000"/>
            <a:lumOff val="80000"/>
            <a:shade val="30000"/>
            <a:satMod val="115000"/>
          </a:schemeClr>
        </a:gs>
        <a:gs pos="50000">
          <a:schemeClr val="accent4">
            <a:lumMod val="20000"/>
            <a:lumOff val="80000"/>
            <a:shade val="67500"/>
            <a:satMod val="115000"/>
          </a:schemeClr>
        </a:gs>
        <a:gs pos="100000">
          <a:schemeClr val="accent4">
            <a:lumMod val="20000"/>
            <a:lumOff val="80000"/>
            <a:shade val="100000"/>
            <a:satMod val="115000"/>
          </a:schemeClr>
        </a:gs>
      </a:gsLst>
      <a:lin ang="0" scaled="1"/>
      <a:tileRect/>
    </a:gradFill>
    <a:ln w="9525" cap="flat" cmpd="sng" algn="ctr">
      <a:noFill/>
      <a:round/>
    </a:ln>
    <a:effectLst>
      <a:glow rad="139700">
        <a:schemeClr val="accent1">
          <a:satMod val="175000"/>
          <a:alpha val="40000"/>
        </a:schemeClr>
      </a:glow>
      <a:innerShdw blurRad="114300">
        <a:prstClr val="black"/>
      </a:inn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data.xlsx]charts!PivotTable22</c:name>
    <c:fmtId val="3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Region</a:t>
            </a:r>
            <a:r>
              <a:rPr lang="en-US" baseline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quantity</a:t>
            </a:r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9910471436266881E-2"/>
          <c:y val="0.25972489930955123"/>
          <c:w val="0.7739750518859726"/>
          <c:h val="0.37480041714614498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charts!$B$39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charts!$A$40:$A$60</c:f>
              <c:strCache>
                <c:ptCount val="20"/>
                <c:pt idx="0">
                  <c:v>Argentina</c:v>
                </c:pt>
                <c:pt idx="1">
                  <c:v>Australia</c:v>
                </c:pt>
                <c:pt idx="2">
                  <c:v>Brazil</c:v>
                </c:pt>
                <c:pt idx="3">
                  <c:v>Canada</c:v>
                </c:pt>
                <c:pt idx="4">
                  <c:v>China</c:v>
                </c:pt>
                <c:pt idx="5">
                  <c:v>Colombia</c:v>
                </c:pt>
                <c:pt idx="6">
                  <c:v>France</c:v>
                </c:pt>
                <c:pt idx="7">
                  <c:v>Germany</c:v>
                </c:pt>
                <c:pt idx="8">
                  <c:v>India</c:v>
                </c:pt>
                <c:pt idx="9">
                  <c:v>Italy</c:v>
                </c:pt>
                <c:pt idx="10">
                  <c:v>Japan</c:v>
                </c:pt>
                <c:pt idx="11">
                  <c:v>Mexico</c:v>
                </c:pt>
                <c:pt idx="12">
                  <c:v>Nigeria</c:v>
                </c:pt>
                <c:pt idx="13">
                  <c:v>Saudi Arabia</c:v>
                </c:pt>
                <c:pt idx="14">
                  <c:v>South Africa</c:v>
                </c:pt>
                <c:pt idx="15">
                  <c:v>South Korea</c:v>
                </c:pt>
                <c:pt idx="16">
                  <c:v>Spain</c:v>
                </c:pt>
                <c:pt idx="17">
                  <c:v>UAE</c:v>
                </c:pt>
                <c:pt idx="18">
                  <c:v>United Kingdom</c:v>
                </c:pt>
                <c:pt idx="19">
                  <c:v>United States</c:v>
                </c:pt>
              </c:strCache>
            </c:strRef>
          </c:cat>
          <c:val>
            <c:numRef>
              <c:f>charts!$B$40:$B$60</c:f>
              <c:numCache>
                <c:formatCode>General</c:formatCode>
                <c:ptCount val="20"/>
                <c:pt idx="0">
                  <c:v>216</c:v>
                </c:pt>
                <c:pt idx="1">
                  <c:v>359</c:v>
                </c:pt>
                <c:pt idx="2">
                  <c:v>221</c:v>
                </c:pt>
                <c:pt idx="3">
                  <c:v>542</c:v>
                </c:pt>
                <c:pt idx="4">
                  <c:v>381</c:v>
                </c:pt>
                <c:pt idx="5">
                  <c:v>187</c:v>
                </c:pt>
                <c:pt idx="6">
                  <c:v>382</c:v>
                </c:pt>
                <c:pt idx="7">
                  <c:v>367</c:v>
                </c:pt>
                <c:pt idx="8">
                  <c:v>287</c:v>
                </c:pt>
                <c:pt idx="9">
                  <c:v>344</c:v>
                </c:pt>
                <c:pt idx="10">
                  <c:v>445</c:v>
                </c:pt>
                <c:pt idx="11">
                  <c:v>629</c:v>
                </c:pt>
                <c:pt idx="12">
                  <c:v>142</c:v>
                </c:pt>
                <c:pt idx="13">
                  <c:v>169</c:v>
                </c:pt>
                <c:pt idx="14">
                  <c:v>197</c:v>
                </c:pt>
                <c:pt idx="15">
                  <c:v>286</c:v>
                </c:pt>
                <c:pt idx="16">
                  <c:v>263</c:v>
                </c:pt>
                <c:pt idx="17">
                  <c:v>155</c:v>
                </c:pt>
                <c:pt idx="18">
                  <c:v>343</c:v>
                </c:pt>
                <c:pt idx="19">
                  <c:v>628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26B8-448C-908D-B3DD5A7B38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94433551"/>
        <c:axId val="1922784143"/>
        <c:axId val="0"/>
      </c:bar3DChart>
      <c:catAx>
        <c:axId val="694433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sis MT Pro Black" panose="02040A04050005020304" pitchFamily="18" charset="0"/>
                <a:ea typeface="+mn-ea"/>
                <a:cs typeface="+mn-cs"/>
              </a:defRPr>
            </a:pPr>
            <a:endParaRPr lang="en-US"/>
          </a:p>
        </c:txPr>
        <c:crossAx val="1922784143"/>
        <c:crosses val="autoZero"/>
        <c:auto val="1"/>
        <c:lblAlgn val="ctr"/>
        <c:lblOffset val="100"/>
        <c:noMultiLvlLbl val="0"/>
      </c:catAx>
      <c:valAx>
        <c:axId val="1922784143"/>
        <c:scaling>
          <c:orientation val="minMax"/>
        </c:scaling>
        <c:delete val="0"/>
        <c:axPos val="l"/>
        <c:majorGridlines>
          <c:spPr>
            <a:ln w="2540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pPr>
            <a:endParaRPr lang="en-US"/>
          </a:p>
        </c:txPr>
        <c:crossAx val="694433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data.xlsx]charts!PivotTable24</c:name>
    <c:fmtId val="3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US">
                <a:latin typeface="Algerian" panose="04020705040A02060702" pitchFamily="82" charset="0"/>
              </a:rPr>
              <a:t>net</a:t>
            </a:r>
            <a:r>
              <a:rPr lang="en-US" baseline="0">
                <a:latin typeface="Algerian" panose="04020705040A02060702" pitchFamily="82" charset="0"/>
              </a:rPr>
              <a:t> sales</a:t>
            </a:r>
            <a:endParaRPr lang="en-US">
              <a:latin typeface="Algerian" panose="04020705040A02060702" pitchFamily="82" charset="0"/>
            </a:endParaRPr>
          </a:p>
        </c:rich>
      </c:tx>
      <c:layout>
        <c:manualLayout>
          <c:xMode val="edge"/>
          <c:yMode val="edge"/>
          <c:x val="0.42437248143479761"/>
          <c:y val="3.11143377831775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charts!$V$39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5D-4108-9AD3-7E6485D5C94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5D-4108-9AD3-7E6485D5C94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5D-4108-9AD3-7E6485D5C942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5D-4108-9AD3-7E6485D5C942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75D-4108-9AD3-7E6485D5C942}"/>
              </c:ext>
            </c:extLst>
          </c:dPt>
          <c:cat>
            <c:strRef>
              <c:f>charts!$U$40:$U$45</c:f>
              <c:strCache>
                <c:ptCount val="5"/>
                <c:pt idx="0">
                  <c:v>Europe</c:v>
                </c:pt>
                <c:pt idx="1">
                  <c:v>North America</c:v>
                </c:pt>
                <c:pt idx="2">
                  <c:v>Asia Pacific</c:v>
                </c:pt>
                <c:pt idx="3">
                  <c:v>Middle East &amp; Africa</c:v>
                </c:pt>
                <c:pt idx="4">
                  <c:v>South America</c:v>
                </c:pt>
              </c:strCache>
            </c:strRef>
          </c:cat>
          <c:val>
            <c:numRef>
              <c:f>charts!$V$40:$V$45</c:f>
              <c:numCache>
                <c:formatCode>"₹"\ #,##0.00</c:formatCode>
                <c:ptCount val="5"/>
                <c:pt idx="0">
                  <c:v>116254.43149999995</c:v>
                </c:pt>
                <c:pt idx="1">
                  <c:v>107419.95750000006</c:v>
                </c:pt>
                <c:pt idx="2">
                  <c:v>104043.66800000009</c:v>
                </c:pt>
                <c:pt idx="3">
                  <c:v>39394.519999999997</c:v>
                </c:pt>
                <c:pt idx="4">
                  <c:v>38686.054500000006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75D-4108-9AD3-7E6485D5C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188177082074047"/>
          <c:y val="0.24451209103718813"/>
          <c:w val="0.18490435808953079"/>
          <c:h val="0.473419251121805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Eras Bold ITC" panose="020B0907030504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data.xlsx]charts!PivotTable23</c:name>
    <c:fmtId val="8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	</a:t>
            </a:r>
            <a:r>
              <a:rPr lang="en-US">
                <a:latin typeface="Eras Bold ITC" panose="020B0907030504020204" pitchFamily="34" charset="0"/>
              </a:rPr>
              <a:t>Unit </a:t>
            </a:r>
            <a:r>
              <a:rPr lang="en-US">
                <a:latin typeface="Eras Bold ITC" panose="020B09070305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sales</a:t>
            </a:r>
          </a:p>
        </c:rich>
      </c:tx>
      <c:layout>
        <c:manualLayout>
          <c:xMode val="edge"/>
          <c:yMode val="edge"/>
          <c:x val="0.41432032441251171"/>
          <c:y val="2.3416872317902675E-2"/>
        </c:manualLayout>
      </c:layout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charts!$M$39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charts!$L$40:$L$51</c:f>
              <c:strCache>
                <c:ptCount val="11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July</c:v>
                </c:pt>
                <c:pt idx="6">
                  <c:v>August</c:v>
                </c:pt>
                <c:pt idx="7">
                  <c:v>September</c:v>
                </c:pt>
                <c:pt idx="8">
                  <c:v>October</c:v>
                </c:pt>
                <c:pt idx="9">
                  <c:v>November</c:v>
                </c:pt>
                <c:pt idx="10">
                  <c:v>December</c:v>
                </c:pt>
              </c:strCache>
            </c:strRef>
          </c:cat>
          <c:val>
            <c:numRef>
              <c:f>charts!$M$40:$M$51</c:f>
              <c:numCache>
                <c:formatCode>General</c:formatCode>
                <c:ptCount val="11"/>
                <c:pt idx="0">
                  <c:v>138</c:v>
                </c:pt>
                <c:pt idx="1">
                  <c:v>128</c:v>
                </c:pt>
                <c:pt idx="2">
                  <c:v>143</c:v>
                </c:pt>
                <c:pt idx="3">
                  <c:v>182</c:v>
                </c:pt>
                <c:pt idx="4">
                  <c:v>174</c:v>
                </c:pt>
                <c:pt idx="5">
                  <c:v>170</c:v>
                </c:pt>
                <c:pt idx="6">
                  <c:v>162</c:v>
                </c:pt>
                <c:pt idx="7">
                  <c:v>178</c:v>
                </c:pt>
                <c:pt idx="8">
                  <c:v>205</c:v>
                </c:pt>
                <c:pt idx="9">
                  <c:v>162</c:v>
                </c:pt>
                <c:pt idx="10">
                  <c:v>191</c:v>
                </c:pt>
              </c:numCache>
            </c:numRef>
          </c:val>
          <c:shape val="pyramidToMax"/>
          <c:extLst>
            <c:ext xmlns:c16="http://schemas.microsoft.com/office/drawing/2014/chart" uri="{C3380CC4-5D6E-409C-BE32-E72D297353CC}">
              <c16:uniqueId val="{00000000-E1CB-47D2-B09D-6BAC044D88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06587247"/>
        <c:axId val="1922724623"/>
        <c:axId val="0"/>
      </c:bar3DChart>
      <c:catAx>
        <c:axId val="706587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masis MT Pro Medium" panose="020F0502020204030204" pitchFamily="18" charset="0"/>
                <a:ea typeface="+mn-ea"/>
                <a:cs typeface="+mn-cs"/>
              </a:defRPr>
            </a:pPr>
            <a:endParaRPr lang="en-US"/>
          </a:p>
        </c:txPr>
        <c:crossAx val="1922724623"/>
        <c:crosses val="autoZero"/>
        <c:auto val="1"/>
        <c:lblAlgn val="ctr"/>
        <c:lblOffset val="100"/>
        <c:noMultiLvlLbl val="0"/>
      </c:catAx>
      <c:valAx>
        <c:axId val="1922724623"/>
        <c:scaling>
          <c:orientation val="minMax"/>
        </c:scaling>
        <c:delete val="0"/>
        <c:axPos val="l"/>
        <c:majorGridlines>
          <c:spPr>
            <a:ln w="2540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 Black" panose="02070A03080606020203" pitchFamily="18" charset="0"/>
                <a:ea typeface="ADLaM Display" panose="02010000000000000000" pitchFamily="2" charset="0"/>
                <a:cs typeface="ADLaM Display" panose="02010000000000000000" pitchFamily="2" charset="0"/>
              </a:defRPr>
            </a:pPr>
            <a:endParaRPr lang="en-US"/>
          </a:p>
        </c:txPr>
        <c:crossAx val="706587247"/>
        <c:crosses val="autoZero"/>
        <c:crossBetween val="between"/>
      </c:valAx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accent6">
        <a:lumMod val="20000"/>
        <a:lumOff val="80000"/>
      </a:schemeClr>
    </a:solidFill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data.xlsx]charts!PivotTable15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latin typeface="Amasis MT Pro Medium" panose="02040604050005020304" pitchFamily="18" charset="0"/>
              </a:rPr>
              <a:t>Region</a:t>
            </a:r>
            <a:r>
              <a:rPr lang="en-US" baseline="0">
                <a:latin typeface="Amasis MT Pro Medium" panose="02040604050005020304" pitchFamily="18" charset="0"/>
              </a:rPr>
              <a:t> sales</a:t>
            </a:r>
            <a:endParaRPr lang="en-US">
              <a:latin typeface="Amasis MT Pro Medium" panose="02040604050005020304" pitchFamily="18" charset="0"/>
            </a:endParaRPr>
          </a:p>
        </c:rich>
      </c:tx>
      <c:layout>
        <c:manualLayout>
          <c:xMode val="edge"/>
          <c:yMode val="edge"/>
          <c:x val="0.41432036875430089"/>
          <c:y val="2.58732485767069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25400" cap="flat" cmpd="sng" algn="ctr">
            <a:solidFill>
              <a:schemeClr val="lt1"/>
            </a:solidFill>
            <a:prstDash val="solid"/>
            <a:miter lim="800000"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5400" cap="flat" cmpd="sng" algn="ctr">
            <a:solidFill>
              <a:schemeClr val="lt1"/>
            </a:solidFill>
            <a:prstDash val="solid"/>
            <a:miter lim="800000"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 w="25400" cap="flat" cmpd="sng" algn="ctr">
            <a:solidFill>
              <a:schemeClr val="lt1"/>
            </a:solidFill>
            <a:prstDash val="solid"/>
            <a:miter lim="800000"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 w="25400" cap="flat" cmpd="sng" algn="ctr">
            <a:solidFill>
              <a:schemeClr val="lt1"/>
            </a:solidFill>
            <a:prstDash val="solid"/>
            <a:miter lim="800000"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charts!$Y$4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 w="25400" cap="flat" cmpd="sng" algn="ctr">
              <a:solidFill>
                <a:schemeClr val="lt1"/>
              </a:solidFill>
              <a:prstDash val="solid"/>
              <a:miter lim="800000"/>
            </a:ln>
            <a:effectLst/>
            <a:sp3d contourW="25400">
              <a:contourClr>
                <a:schemeClr val="lt1"/>
              </a:contourClr>
            </a:sp3d>
          </c:spPr>
          <c:invertIfNegative val="0"/>
          <c:cat>
            <c:strRef>
              <c:f>charts!$X$5:$X$10</c:f>
              <c:strCache>
                <c:ptCount val="5"/>
                <c:pt idx="0">
                  <c:v>Europe</c:v>
                </c:pt>
                <c:pt idx="1">
                  <c:v>North America</c:v>
                </c:pt>
                <c:pt idx="2">
                  <c:v>Asia Pacific</c:v>
                </c:pt>
                <c:pt idx="3">
                  <c:v>Middle East &amp; Africa</c:v>
                </c:pt>
                <c:pt idx="4">
                  <c:v>South America</c:v>
                </c:pt>
              </c:strCache>
            </c:strRef>
          </c:cat>
          <c:val>
            <c:numRef>
              <c:f>charts!$Y$5:$Y$10</c:f>
              <c:numCache>
                <c:formatCode>"₹"\ #,##0.00</c:formatCode>
                <c:ptCount val="5"/>
                <c:pt idx="0">
                  <c:v>126559.63999999998</c:v>
                </c:pt>
                <c:pt idx="1">
                  <c:v>115745.20999999986</c:v>
                </c:pt>
                <c:pt idx="2">
                  <c:v>113057.5100000001</c:v>
                </c:pt>
                <c:pt idx="3">
                  <c:v>43194.51999999999</c:v>
                </c:pt>
                <c:pt idx="4">
                  <c:v>42307.609999999986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5B-473D-9FFC-25DBD6E5E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06587247"/>
        <c:axId val="1922724623"/>
        <c:axId val="0"/>
      </c:bar3DChart>
      <c:catAx>
        <c:axId val="706587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pPr>
            <a:endParaRPr lang="en-US"/>
          </a:p>
        </c:txPr>
        <c:crossAx val="1922724623"/>
        <c:crosses val="autoZero"/>
        <c:auto val="1"/>
        <c:lblAlgn val="ctr"/>
        <c:lblOffset val="100"/>
        <c:noMultiLvlLbl val="0"/>
      </c:catAx>
      <c:valAx>
        <c:axId val="1922724623"/>
        <c:scaling>
          <c:orientation val="minMax"/>
        </c:scaling>
        <c:delete val="0"/>
        <c:axPos val="l"/>
        <c:majorGridlines>
          <c:spPr>
            <a:ln w="25400" cap="flat" cmpd="sng" algn="ctr">
              <a:solidFill>
                <a:schemeClr val="accent3"/>
              </a:solidFill>
              <a:prstDash val="solid"/>
              <a:miter lim="800000"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pPr>
            <a:endParaRPr lang="en-US"/>
          </a:p>
        </c:txPr>
        <c:crossAx val="706587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[e commerce data.xlsx]charts!PivotTable13</c:name>
    <c:fmtId val="6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 Black" panose="02070A03080606020203" pitchFamily="18" charset="0"/>
                <a:ea typeface="+mn-ea"/>
                <a:cs typeface="+mn-cs"/>
              </a:defRPr>
            </a:pPr>
            <a:r>
              <a:rPr lang="en-US" sz="1600">
                <a:latin typeface="Bodoni MT Black" panose="02070A03080606020203" pitchFamily="18" charset="0"/>
              </a:rPr>
              <a:t>monthly</a:t>
            </a:r>
            <a:r>
              <a:rPr lang="en-US" sz="1600" baseline="0">
                <a:latin typeface="Bodoni MT Black" panose="02070A03080606020203" pitchFamily="18" charset="0"/>
              </a:rPr>
              <a:t> sales</a:t>
            </a:r>
            <a:endParaRPr lang="en-US" sz="1600">
              <a:latin typeface="Bodoni MT Black" panose="02070A03080606020203" pitchFamily="18" charset="0"/>
            </a:endParaRPr>
          </a:p>
        </c:rich>
      </c:tx>
      <c:layout>
        <c:manualLayout>
          <c:xMode val="edge"/>
          <c:yMode val="edge"/>
          <c:x val="0.43158514967952732"/>
          <c:y val="1.85479333603542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Bodoni MT Black" panose="02070A030806060202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551691472216841"/>
          <c:y val="0.11520954242493017"/>
          <c:w val="0.84606708323107116"/>
          <c:h val="0.71007855525037156"/>
        </c:manualLayout>
      </c:layout>
      <c:lineChart>
        <c:grouping val="standard"/>
        <c:varyColors val="0"/>
        <c:ser>
          <c:idx val="0"/>
          <c:order val="0"/>
          <c:tx>
            <c:strRef>
              <c:f>charts!$B$3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charts!$A$4:$A$15</c:f>
              <c:strCache>
                <c:ptCount val="11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July</c:v>
                </c:pt>
                <c:pt idx="6">
                  <c:v>August</c:v>
                </c:pt>
                <c:pt idx="7">
                  <c:v>September</c:v>
                </c:pt>
                <c:pt idx="8">
                  <c:v>October</c:v>
                </c:pt>
                <c:pt idx="9">
                  <c:v>November</c:v>
                </c:pt>
                <c:pt idx="10">
                  <c:v>December</c:v>
                </c:pt>
              </c:strCache>
            </c:strRef>
          </c:cat>
          <c:val>
            <c:numRef>
              <c:f>charts!$B$4:$B$15</c:f>
              <c:numCache>
                <c:formatCode>"₹"\ #,##0.00</c:formatCode>
                <c:ptCount val="11"/>
                <c:pt idx="0">
                  <c:v>31611.59</c:v>
                </c:pt>
                <c:pt idx="1">
                  <c:v>36260.55000000001</c:v>
                </c:pt>
                <c:pt idx="2">
                  <c:v>34378.890000000007</c:v>
                </c:pt>
                <c:pt idx="3">
                  <c:v>44203.66</c:v>
                </c:pt>
                <c:pt idx="4">
                  <c:v>42434.470000000008</c:v>
                </c:pt>
                <c:pt idx="5">
                  <c:v>45671.219999999987</c:v>
                </c:pt>
                <c:pt idx="6">
                  <c:v>34157.009999999995</c:v>
                </c:pt>
                <c:pt idx="7">
                  <c:v>36002.050000000003</c:v>
                </c:pt>
                <c:pt idx="8">
                  <c:v>51095.400000000016</c:v>
                </c:pt>
                <c:pt idx="9">
                  <c:v>39669.780000000013</c:v>
                </c:pt>
                <c:pt idx="10">
                  <c:v>45379.869999999988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A2-4EAE-847C-4E121EE33B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5875327"/>
        <c:axId val="1922739503"/>
      </c:lineChart>
      <c:catAx>
        <c:axId val="495875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haroni" panose="02010803020104030203" pitchFamily="2" charset="-79"/>
                <a:ea typeface="+mn-ea"/>
                <a:cs typeface="Aharoni" panose="02010803020104030203" pitchFamily="2" charset="-79"/>
              </a:defRPr>
            </a:pPr>
            <a:endParaRPr lang="en-US"/>
          </a:p>
        </c:txPr>
        <c:crossAx val="1922739503"/>
        <c:crosses val="autoZero"/>
        <c:auto val="1"/>
        <c:lblAlgn val="ctr"/>
        <c:lblOffset val="100"/>
        <c:noMultiLvlLbl val="0"/>
      </c:catAx>
      <c:valAx>
        <c:axId val="1922739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 Black" panose="02070A03080606020203" pitchFamily="18" charset="0"/>
                <a:ea typeface="+mn-ea"/>
                <a:cs typeface="+mn-cs"/>
              </a:defRPr>
            </a:pPr>
            <a:endParaRPr lang="en-US"/>
          </a:p>
        </c:txPr>
        <c:crossAx val="495875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doni MT Black" panose="02070A030806060202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noFill/>
      <a:round/>
    </a:ln>
    <a:effectLst>
      <a:glow rad="101600">
        <a:schemeClr val="accent3">
          <a:satMod val="175000"/>
          <a:alpha val="40000"/>
        </a:scheme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data.xlsx]charts!PivotTable14</c:name>
    <c:fmtId val="68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1" i="0" u="none" strike="noStrike" kern="1200" spc="0" baseline="0">
                  <a:solidFill>
                    <a:schemeClr val="accent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1" i="0" u="none" strike="noStrike" kern="1200" spc="0" baseline="0">
                  <a:solidFill>
                    <a:schemeClr val="accent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1" i="0" u="none" strike="noStrike" kern="1200" spc="0" baseline="0">
                  <a:solidFill>
                    <a:schemeClr val="accent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2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3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4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1" i="0" u="none" strike="noStrike" kern="1200" spc="0" baseline="0">
                  <a:solidFill>
                    <a:schemeClr val="accent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7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8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9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21370778652668415"/>
          <c:y val="0.24476633129192185"/>
          <c:w val="0.41147353455818025"/>
          <c:h val="0.68578922426363376"/>
        </c:manualLayout>
      </c:layout>
      <c:pieChart>
        <c:varyColors val="1"/>
        <c:ser>
          <c:idx val="0"/>
          <c:order val="0"/>
          <c:tx>
            <c:strRef>
              <c:f>charts!$N$4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188-4E2F-98F8-52754C52B09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188-4E2F-98F8-52754C52B09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188-4E2F-98F8-52754C52B092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188-4E2F-98F8-52754C52B09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spc="0" baseline="0">
                    <a:solidFill>
                      <a:schemeClr val="accent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charts!$M$5:$M$9</c:f>
              <c:strCache>
                <c:ptCount val="4"/>
                <c:pt idx="0">
                  <c:v>Credit Card</c:v>
                </c:pt>
                <c:pt idx="1">
                  <c:v>PayPal</c:v>
                </c:pt>
                <c:pt idx="2">
                  <c:v>Cash on Delivery</c:v>
                </c:pt>
                <c:pt idx="3">
                  <c:v>Bank Transfer</c:v>
                </c:pt>
              </c:strCache>
            </c:strRef>
          </c:cat>
          <c:val>
            <c:numRef>
              <c:f>charts!$N$5:$N$9</c:f>
              <c:numCache>
                <c:formatCode>"₹"\ #,##0.00</c:formatCode>
                <c:ptCount val="4"/>
                <c:pt idx="0">
                  <c:v>175548.56000000003</c:v>
                </c:pt>
                <c:pt idx="1">
                  <c:v>130957.66</c:v>
                </c:pt>
                <c:pt idx="2">
                  <c:v>67300.799999999988</c:v>
                </c:pt>
                <c:pt idx="3">
                  <c:v>67057.47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88-4E2F-98F8-52754C52B092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60000"/>
        <a:lumOff val="40000"/>
      </a:schemeClr>
    </a:solidFill>
    <a:ln w="9525" cap="flat" cmpd="sng" algn="ctr">
      <a:noFill/>
      <a:prstDash val="solid"/>
      <a:round/>
    </a:ln>
    <a:effectLst>
      <a:glow rad="139700">
        <a:schemeClr val="accent3">
          <a:satMod val="175000"/>
          <a:alpha val="40000"/>
        </a:schemeClr>
      </a:glow>
      <a:innerShdw blurRad="63500" dist="50800" dir="16200000">
        <a:prstClr val="black">
          <a:alpha val="50000"/>
        </a:prstClr>
      </a:inn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data.xlsx]charts!PivotTable16</c:name>
    <c:fmtId val="7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 Black" panose="02070A03080606020203" pitchFamily="18" charset="0"/>
                <a:ea typeface="+mn-ea"/>
                <a:cs typeface="+mn-cs"/>
              </a:defRPr>
            </a:pPr>
            <a:r>
              <a:rPr lang="en-US">
                <a:latin typeface="Bodoni MT Black" panose="02070A03080606020203" pitchFamily="18" charset="0"/>
              </a:rPr>
              <a:t>order</a:t>
            </a:r>
            <a:r>
              <a:rPr lang="en-US" baseline="0">
                <a:latin typeface="Bodoni MT Black" panose="02070A03080606020203" pitchFamily="18" charset="0"/>
              </a:rPr>
              <a:t> method</a:t>
            </a:r>
            <a:endParaRPr lang="en-US">
              <a:latin typeface="Bodoni MT Black" panose="02070A03080606020203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Bodoni MT Black" panose="02070A030806060202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charts!$AJ$4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charts!$AI$5:$AI$9</c:f>
              <c:strCache>
                <c:ptCount val="4"/>
                <c:pt idx="0">
                  <c:v>Credit Card</c:v>
                </c:pt>
                <c:pt idx="1">
                  <c:v>PayPal</c:v>
                </c:pt>
                <c:pt idx="2">
                  <c:v>Bank Transfer</c:v>
                </c:pt>
                <c:pt idx="3">
                  <c:v>Cash on Delivery</c:v>
                </c:pt>
              </c:strCache>
            </c:strRef>
          </c:cat>
          <c:val>
            <c:numRef>
              <c:f>charts!$AJ$5:$AJ$9</c:f>
              <c:numCache>
                <c:formatCode>General</c:formatCode>
                <c:ptCount val="4"/>
                <c:pt idx="0">
                  <c:v>722</c:v>
                </c:pt>
                <c:pt idx="1">
                  <c:v>567</c:v>
                </c:pt>
                <c:pt idx="2">
                  <c:v>277</c:v>
                </c:pt>
                <c:pt idx="3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0B-4891-B9D9-EA15A4420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5300719"/>
        <c:axId val="1922726543"/>
      </c:barChart>
      <c:catAx>
        <c:axId val="49530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ooper Black" panose="0208090404030B020404" pitchFamily="18" charset="0"/>
                <a:ea typeface="+mn-ea"/>
                <a:cs typeface="+mn-cs"/>
              </a:defRPr>
            </a:pPr>
            <a:endParaRPr lang="en-US"/>
          </a:p>
        </c:txPr>
        <c:crossAx val="1922726543"/>
        <c:crosses val="autoZero"/>
        <c:auto val="1"/>
        <c:lblAlgn val="ctr"/>
        <c:lblOffset val="100"/>
        <c:noMultiLvlLbl val="0"/>
      </c:catAx>
      <c:valAx>
        <c:axId val="1922726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ras Bold ITC" panose="020B0907030504020204" pitchFamily="34" charset="0"/>
                <a:ea typeface="+mn-ea"/>
                <a:cs typeface="+mn-cs"/>
              </a:defRPr>
            </a:pPr>
            <a:endParaRPr lang="en-US"/>
          </a:p>
        </c:txPr>
        <c:crossAx val="49530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doni MT Black" panose="02070A030806060202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60000"/>
        <a:lumOff val="40000"/>
      </a:schemeClr>
    </a:solidFill>
    <a:ln w="9525" cap="flat" cmpd="sng" algn="ctr">
      <a:noFill/>
      <a:round/>
    </a:ln>
    <a:effectLst>
      <a:glow rad="101600">
        <a:schemeClr val="accent3">
          <a:satMod val="175000"/>
          <a:alpha val="40000"/>
        </a:schemeClr>
      </a:glow>
      <a:innerShdw blurRad="114300">
        <a:prstClr val="black"/>
      </a:inn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 commerce data.xlsx]charts!PivotTable23</c:name>
    <c:fmtId val="10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 Black" panose="02070A03080606020203" pitchFamily="18" charset="0"/>
                <a:ea typeface="+mn-ea"/>
                <a:cs typeface="+mn-cs"/>
              </a:defRPr>
            </a:pPr>
            <a:r>
              <a:rPr lang="en-US">
                <a:latin typeface="Bodoni MT Black" panose="02070A03080606020203" pitchFamily="18" charset="0"/>
              </a:rPr>
              <a:t>	Unit</a:t>
            </a:r>
            <a:r>
              <a:rPr lang="en-US" baseline="0">
                <a:latin typeface="Bodoni MT Black" panose="02070A03080606020203" pitchFamily="18" charset="0"/>
              </a:rPr>
              <a:t> sales</a:t>
            </a:r>
            <a:endParaRPr lang="en-US">
              <a:latin typeface="Bodoni MT Black" panose="02070A03080606020203" pitchFamily="18" charset="0"/>
            </a:endParaRPr>
          </a:p>
        </c:rich>
      </c:tx>
      <c:layout>
        <c:manualLayout>
          <c:xMode val="edge"/>
          <c:yMode val="edge"/>
          <c:x val="0.31603974741463531"/>
          <c:y val="5.06784208026588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Bodoni MT Black" panose="02070A030806060202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charts!$M$39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charts!$L$40:$L$51</c:f>
              <c:strCache>
                <c:ptCount val="11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July</c:v>
                </c:pt>
                <c:pt idx="6">
                  <c:v>August</c:v>
                </c:pt>
                <c:pt idx="7">
                  <c:v>September</c:v>
                </c:pt>
                <c:pt idx="8">
                  <c:v>October</c:v>
                </c:pt>
                <c:pt idx="9">
                  <c:v>November</c:v>
                </c:pt>
                <c:pt idx="10">
                  <c:v>December</c:v>
                </c:pt>
              </c:strCache>
            </c:strRef>
          </c:cat>
          <c:val>
            <c:numRef>
              <c:f>charts!$M$40:$M$51</c:f>
              <c:numCache>
                <c:formatCode>General</c:formatCode>
                <c:ptCount val="11"/>
                <c:pt idx="0">
                  <c:v>138</c:v>
                </c:pt>
                <c:pt idx="1">
                  <c:v>128</c:v>
                </c:pt>
                <c:pt idx="2">
                  <c:v>143</c:v>
                </c:pt>
                <c:pt idx="3">
                  <c:v>182</c:v>
                </c:pt>
                <c:pt idx="4">
                  <c:v>174</c:v>
                </c:pt>
                <c:pt idx="5">
                  <c:v>170</c:v>
                </c:pt>
                <c:pt idx="6">
                  <c:v>162</c:v>
                </c:pt>
                <c:pt idx="7">
                  <c:v>178</c:v>
                </c:pt>
                <c:pt idx="8">
                  <c:v>205</c:v>
                </c:pt>
                <c:pt idx="9">
                  <c:v>162</c:v>
                </c:pt>
                <c:pt idx="10">
                  <c:v>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42-4F0E-AD6A-BC3AF85D66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95302575"/>
        <c:axId val="1922736623"/>
      </c:barChart>
      <c:catAx>
        <c:axId val="4953025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ras Bold ITC" panose="020B0907030504020204" pitchFamily="34" charset="0"/>
                <a:ea typeface="+mn-ea"/>
                <a:cs typeface="+mn-cs"/>
              </a:defRPr>
            </a:pPr>
            <a:endParaRPr lang="en-US"/>
          </a:p>
        </c:txPr>
        <c:crossAx val="1922736623"/>
        <c:crosses val="autoZero"/>
        <c:auto val="1"/>
        <c:lblAlgn val="ctr"/>
        <c:lblOffset val="100"/>
        <c:noMultiLvlLbl val="0"/>
      </c:catAx>
      <c:valAx>
        <c:axId val="1922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ooper Black" panose="0208090404030B020404" pitchFamily="18" charset="0"/>
                <a:ea typeface="+mn-ea"/>
                <a:cs typeface="+mn-cs"/>
              </a:defRPr>
            </a:pPr>
            <a:endParaRPr lang="en-US"/>
          </a:p>
        </c:txPr>
        <c:crossAx val="495302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50000"/>
        <a:lumOff val="5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14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2" y="-1"/>
            <a:ext cx="9144001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72000" cy="51434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01417"/>
            <a:ext cx="4572000" cy="3342084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786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1712"/>
            <a:ext cx="7372513" cy="54864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4" y="1508760"/>
            <a:ext cx="8551926" cy="3291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296037" y="1278627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8767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0"/>
            <a:ext cx="4572000" cy="51434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1729" y="3173504"/>
            <a:ext cx="5392271" cy="1969996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715000" y="157734"/>
            <a:ext cx="1104901" cy="274320"/>
          </a:xfrm>
        </p:spPr>
        <p:txBody>
          <a:bodyPr/>
          <a:lstStyle/>
          <a:p>
            <a:fld id="{21560963-1EEA-4BDE-8FF9-3FEE13B5D43C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873691" y="157734"/>
            <a:ext cx="163601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5784" y="157734"/>
            <a:ext cx="336604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950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849910"/>
            <a:ext cx="8723609" cy="1369256"/>
          </a:xfrm>
        </p:spPr>
        <p:txBody>
          <a:bodyPr anchor="t"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13" y="4013420"/>
            <a:ext cx="5426966" cy="578457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2574091"/>
            <a:ext cx="9144000" cy="1368775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4453975" y="-747639"/>
            <a:ext cx="1368776" cy="8011274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8798923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275417" y="275419"/>
            <a:ext cx="5149767" cy="4598932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483461" y="1730498"/>
            <a:ext cx="4896464" cy="19295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3162082"/>
            <a:ext cx="6665474" cy="19834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875" y="714375"/>
            <a:ext cx="6665474" cy="4227599"/>
          </a:xfrm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117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1338" y="0"/>
            <a:ext cx="5700139" cy="51435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1" y="2557085"/>
            <a:ext cx="5707226" cy="2586415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296112" y="-281862"/>
            <a:ext cx="5143500" cy="5707226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891460" y="313483"/>
            <a:ext cx="4138584" cy="5521450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7" y="1285874"/>
            <a:ext cx="3720463" cy="3542157"/>
          </a:xfrm>
        </p:spPr>
        <p:txBody>
          <a:bodyPr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32026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4174" y="935214"/>
            <a:ext cx="2553208" cy="3692389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6001920" y="571500"/>
            <a:ext cx="288036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1589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0965" y="-2"/>
            <a:ext cx="9133034" cy="3369303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542928" y="871467"/>
            <a:ext cx="8601073" cy="2497835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0966" y="-5599"/>
            <a:ext cx="4582966" cy="1875307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1101693"/>
            <a:ext cx="3822132" cy="1845981"/>
          </a:xfrm>
        </p:spPr>
        <p:txBody>
          <a:bodyPr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14325" y="157586"/>
            <a:ext cx="1548067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57750" y="157586"/>
            <a:ext cx="2438631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5537" y="871466"/>
            <a:ext cx="3118619" cy="207620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369302"/>
            <a:ext cx="9144000" cy="177419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4941125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9144000" cy="5152184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295592"/>
            <a:ext cx="9144001" cy="3847906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3213787" y="-778030"/>
            <a:ext cx="5152184" cy="6708243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2690039" y="-511279"/>
            <a:ext cx="5087374" cy="6222179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296037" y="4575810"/>
            <a:ext cx="8551926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9144000" cy="3961068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3" y="685800"/>
            <a:ext cx="5623560" cy="196596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3" y="2926080"/>
            <a:ext cx="5623560" cy="1371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20966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293851" y="580386"/>
            <a:ext cx="8850149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580385"/>
            <a:ext cx="8269941" cy="1225703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38608"/>
            <a:ext cx="2204390" cy="157261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10/9/2026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00501" y="157586"/>
            <a:ext cx="2204618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500" y="1438609"/>
            <a:ext cx="3743325" cy="3099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75399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14375"/>
            <a:ext cx="2499588" cy="118643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4490"/>
            <a:ext cx="822960" cy="274320"/>
          </a:xfrm>
        </p:spPr>
        <p:txBody>
          <a:bodyPr/>
          <a:lstStyle/>
          <a:p>
            <a:fld id="{37D881E9-FF16-48A7-B8AA-A17AAAEAD6E1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120784" y="155468"/>
            <a:ext cx="1229529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355570" y="157586"/>
            <a:ext cx="370332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2324862"/>
            <a:ext cx="2499588" cy="2290572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71450" indent="0">
              <a:buNone/>
              <a:defRPr sz="105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114675" y="0"/>
            <a:ext cx="6029325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297966" y="2108458"/>
            <a:ext cx="243460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4965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3211538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9144000" cy="289805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3211538"/>
            <a:ext cx="5257799" cy="114973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6314" y="4697730"/>
            <a:ext cx="1319466" cy="274320"/>
          </a:xfrm>
        </p:spPr>
        <p:txBody>
          <a:bodyPr/>
          <a:lstStyle/>
          <a:p>
            <a:fld id="{862C1B48-5712-40E8-928E-1136C5D12A17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4697730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243" y="4697730"/>
            <a:ext cx="45410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8724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988" y="716858"/>
            <a:ext cx="3086100" cy="93303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52197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602073" y="157586"/>
            <a:ext cx="1114425" cy="274320"/>
          </a:xfrm>
        </p:spPr>
        <p:txBody>
          <a:bodyPr/>
          <a:lstStyle/>
          <a:p>
            <a:fld id="{2BDF39F2-6977-4B14-98E3-4DFE82804B0D}" type="datetime1">
              <a:rPr lang="en-US" smtClean="0"/>
              <a:t>10/9/2026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32072" y="157586"/>
            <a:ext cx="1395348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18988" y="2093275"/>
            <a:ext cx="3086100" cy="25374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5696581" y="1856817"/>
            <a:ext cx="300850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3741814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3265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763265"/>
            <a:ext cx="5257799" cy="17830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2878282"/>
            <a:ext cx="9144000" cy="2265218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565989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1028700"/>
            <a:ext cx="2606040" cy="17145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10/9/2026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43276" y="157586"/>
            <a:ext cx="2144480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708680" y="157586"/>
            <a:ext cx="45410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3275" y="1028701"/>
            <a:ext cx="2526584" cy="3526457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8284" y="1"/>
            <a:ext cx="2595716" cy="515015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3578304"/>
            <a:ext cx="3655996" cy="1571854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2889682"/>
            <a:ext cx="2117325" cy="2267135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579501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1992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5" y="714375"/>
            <a:ext cx="5063345" cy="93815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2897"/>
            <a:ext cx="1714500" cy="274320"/>
          </a:xfrm>
        </p:spPr>
        <p:txBody>
          <a:bodyPr/>
          <a:lstStyle/>
          <a:p>
            <a:fld id="{D6F66A7C-2450-4D43-AEC7-53AFAE9E8A03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43100" y="152897"/>
            <a:ext cx="2081252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85502" y="152897"/>
            <a:ext cx="64859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1807888"/>
            <a:ext cx="5066636" cy="28555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15000" y="0"/>
            <a:ext cx="34290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2779573"/>
            <a:ext cx="5715000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4197834"/>
            <a:ext cx="5715000" cy="945666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4965192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0930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2125979"/>
            <a:ext cx="2260787" cy="2194560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3347" y="0"/>
            <a:ext cx="9157347" cy="181507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0" y="2125980"/>
            <a:ext cx="5400675" cy="2194560"/>
          </a:xfrm>
        </p:spPr>
        <p:txBody>
          <a:bodyPr>
            <a:noAutofit/>
          </a:bodyPr>
          <a:lstStyle>
            <a:lvl1pPr marL="214313" indent="-214313">
              <a:buFont typeface="Arial" panose="020B0604020202020204" pitchFamily="34" charset="0"/>
              <a:buNone/>
              <a:defRPr sz="1350"/>
            </a:lvl1pPr>
            <a:lvl2pPr marL="385763" indent="-214313">
              <a:buFont typeface="Arial" panose="020B0604020202020204" pitchFamily="34" charset="0"/>
              <a:buNone/>
              <a:defRPr sz="120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900"/>
            </a:lvl4pPr>
            <a:lvl5pPr marL="814388" indent="-128588">
              <a:buFont typeface="Arial" panose="020B0604020202020204" pitchFamily="34" charset="0"/>
              <a:buNone/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4705525"/>
            <a:ext cx="2260787" cy="274320"/>
          </a:xfrm>
        </p:spPr>
        <p:txBody>
          <a:bodyPr/>
          <a:lstStyle/>
          <a:p>
            <a:fld id="{FBC323F5-F813-45BA-B261-A7C41DB03AE5}" type="datetime1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60420" y="4705525"/>
            <a:ext cx="2371725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469630" y="4705525"/>
            <a:ext cx="426688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75283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8200"/>
            <a:ext cx="2630564" cy="1048871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10/9/2026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99510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8514" y="2010336"/>
            <a:ext cx="2518364" cy="274656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1628776" y="4385299"/>
            <a:ext cx="7515224" cy="758201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5825523" y="1825022"/>
            <a:ext cx="3708025" cy="292892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3320118" y="806824"/>
            <a:ext cx="0" cy="3708026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99509" y="758199"/>
            <a:ext cx="4869180" cy="39090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97582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4859"/>
            <a:ext cx="2564535" cy="1392415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10/9/2026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59227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6792" y="2283781"/>
            <a:ext cx="2504057" cy="247311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9226" y="764858"/>
            <a:ext cx="5486400" cy="4183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194202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49" y="3680709"/>
            <a:ext cx="3990214" cy="1079155"/>
          </a:xfrm>
        </p:spPr>
        <p:txBody>
          <a:bodyPr anchor="t"/>
          <a:lstStyle>
            <a:lvl1pPr>
              <a:lnSpc>
                <a:spcPct val="100000"/>
              </a:lnSpc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978" y="575073"/>
            <a:ext cx="8490347" cy="2616994"/>
          </a:xfrm>
        </p:spPr>
        <p:txBody>
          <a:bodyPr/>
          <a:lstStyle>
            <a:lvl1pPr>
              <a:lnSpc>
                <a:spcPct val="85000"/>
              </a:lnSpc>
              <a:defRPr sz="18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296037" y="3496682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49070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9144002" cy="51435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2762599" y="0"/>
            <a:ext cx="6381401" cy="51435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252806" y="-1252806"/>
            <a:ext cx="5619408" cy="812502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7255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3773806" y="-15252"/>
            <a:ext cx="5370194" cy="5158752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6721" y="2028435"/>
            <a:ext cx="9137279" cy="3115066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740" y="2028709"/>
            <a:ext cx="7350919" cy="2653904"/>
          </a:xfrm>
        </p:spPr>
        <p:txBody>
          <a:bodyPr anchor="b"/>
          <a:lstStyle>
            <a:lvl1pPr>
              <a:lnSpc>
                <a:spcPct val="100000"/>
              </a:lnSpc>
              <a:defRPr sz="4050"/>
            </a:lvl1pPr>
            <a:lvl2pPr>
              <a:lnSpc>
                <a:spcPct val="100000"/>
              </a:lnSpc>
              <a:defRPr sz="3600"/>
            </a:lvl2pPr>
            <a:lvl3pPr>
              <a:lnSpc>
                <a:spcPct val="100000"/>
              </a:lnSpc>
              <a:defRPr sz="3300"/>
            </a:lvl3pPr>
            <a:lvl4pPr>
              <a:lnSpc>
                <a:spcPct val="100000"/>
              </a:lnSpc>
              <a:defRPr sz="3000"/>
            </a:lvl4pPr>
            <a:lvl5pPr>
              <a:lnSpc>
                <a:spcPct val="100000"/>
              </a:lnSpc>
              <a:defRPr sz="27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819607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96059"/>
            <a:ext cx="9144000" cy="225808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000254" y="-2000247"/>
            <a:ext cx="5143497" cy="91439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3286125" y="-3280077"/>
            <a:ext cx="2571750" cy="913190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725839"/>
            <a:ext cx="6363081" cy="789011"/>
          </a:xfrm>
        </p:spPr>
        <p:txBody>
          <a:bodyPr anchor="ctr">
            <a:normAutofit/>
          </a:bodyPr>
          <a:lstStyle>
            <a:lvl1pPr marL="102870" indent="-102870">
              <a:lnSpc>
                <a:spcPct val="100000"/>
              </a:lnSpc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054289"/>
            <a:ext cx="6363081" cy="2315717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1pPr>
            <a:lvl2pPr marL="1714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2pPr>
            <a:lvl3pPr marL="34290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3pPr>
            <a:lvl4pPr marL="5143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4pPr>
            <a:lvl5pPr marL="685800" indent="0">
              <a:lnSpc>
                <a:spcPct val="100000"/>
              </a:lnSpc>
              <a:buNone/>
              <a:defRPr lang="en-US" sz="27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1557964" y="3608110"/>
            <a:ext cx="6205292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14301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71500"/>
            <a:ext cx="5259664" cy="1036074"/>
          </a:xfrm>
        </p:spPr>
        <p:txBody>
          <a:bodyPr anchor="t">
            <a:noAutofit/>
          </a:bodyPr>
          <a:lstStyle>
            <a:lvl1pPr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296037" y="2274728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3573781" y="-426721"/>
            <a:ext cx="1996439" cy="9144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3387090" y="-613411"/>
            <a:ext cx="2369820" cy="9144002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423" y="2571750"/>
            <a:ext cx="8378774" cy="18492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235390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3765692" y="-1822598"/>
            <a:ext cx="1368776" cy="890016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1943093"/>
            <a:ext cx="9144000" cy="1368775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5" y="571500"/>
            <a:ext cx="4571999" cy="1090880"/>
          </a:xfrm>
        </p:spPr>
        <p:txBody>
          <a:bodyPr anchor="t">
            <a:normAutofit/>
          </a:bodyPr>
          <a:lstStyle>
            <a:lvl1pPr>
              <a:defRPr sz="4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1" y="2503170"/>
            <a:ext cx="2696378" cy="21214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900" dirty="0"/>
            </a:lvl3pPr>
            <a:lvl4pPr marL="514350" indent="0">
              <a:buNone/>
              <a:defRPr lang="en-US" sz="825" dirty="0"/>
            </a:lvl4pPr>
            <a:lvl5pPr marL="685800" indent="0">
              <a:buNone/>
              <a:defRPr lang="en-US" sz="788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589247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143875" cy="5192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354931"/>
            <a:ext cx="3874294" cy="34397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354931"/>
            <a:ext cx="3743325" cy="34397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296037" y="1188720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95007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689086" cy="4965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331834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869360"/>
            <a:ext cx="3874294" cy="2925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40630" y="1331833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869360"/>
            <a:ext cx="3886430" cy="2925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296037" y="1184951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6821504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4380"/>
            <a:ext cx="7429500" cy="60078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5557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527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08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651855"/>
            <a:ext cx="8703035" cy="726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14" y="157586"/>
            <a:ext cx="13194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6864" y="157586"/>
            <a:ext cx="188196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5243" y="157586"/>
            <a:ext cx="45410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535464"/>
            <a:ext cx="8703035" cy="3175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296037" y="563485"/>
            <a:ext cx="855192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002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1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chart" Target="../charts/chart4.xml"/><Relationship Id="rId11" Type="http://schemas.openxmlformats.org/officeDocument/2006/relationships/image" Target="../media/image10.png"/><Relationship Id="rId5" Type="http://schemas.openxmlformats.org/officeDocument/2006/relationships/chart" Target="../charts/chart3.xml"/><Relationship Id="rId10" Type="http://schemas.openxmlformats.org/officeDocument/2006/relationships/image" Target="../media/image9.png"/><Relationship Id="rId4" Type="http://schemas.openxmlformats.org/officeDocument/2006/relationships/chart" Target="../charts/chart2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5.xml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10" Type="http://schemas.openxmlformats.org/officeDocument/2006/relationships/image" Target="../media/image15.png"/><Relationship Id="rId4" Type="http://schemas.openxmlformats.org/officeDocument/2006/relationships/chart" Target="../charts/chart6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hart" Target="../charts/chart9.xml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6" Type="http://schemas.openxmlformats.org/officeDocument/2006/relationships/chart" Target="../charts/chart12.xml"/><Relationship Id="rId11" Type="http://schemas.openxmlformats.org/officeDocument/2006/relationships/image" Target="../media/image21.png"/><Relationship Id="rId5" Type="http://schemas.openxmlformats.org/officeDocument/2006/relationships/chart" Target="../charts/chart11.xml"/><Relationship Id="rId10" Type="http://schemas.openxmlformats.org/officeDocument/2006/relationships/image" Target="../media/image20.png"/><Relationship Id="rId4" Type="http://schemas.openxmlformats.org/officeDocument/2006/relationships/chart" Target="../charts/chart10.xml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344"/>
          </a:solidFill>
          <a:ln/>
        </p:spPr>
        <p:txBody>
          <a:bodyPr/>
          <a:lstStyle/>
          <a:p>
            <a:r>
              <a:rPr lang="en-IN" dirty="0"/>
              <a:t>     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</a:t>
            </a:r>
            <a:r>
              <a:rPr lang="pt-BR" dirty="0">
                <a:solidFill>
                  <a:schemeClr val="accent4">
                    <a:lumMod val="75000"/>
                  </a:schemeClr>
                </a:solidFill>
              </a:rPr>
              <a:t>G L O B A L E - C O M M E R C E · S A L E S P E R F O R M A N C E R E V I E W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 E-Commerce Sales    Analysis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011680" cy="41148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2025       </a:t>
            </a:r>
            <a:r>
              <a:rPr lang="en-IN" sz="16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631"/>
            <a:ext cx="9235440" cy="62747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6654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E-Commerce Sales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sales performance across 2023 –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286000" cy="32004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 e-commerce orders to understand sales performance, profitability, top products, regions, customer segments, and payment trends over three years.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useful?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Identify best-selling products &amp; categories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58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Find strongest markets &amp; regions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551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Measure profit vs loss orders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843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Understand customer payment preferences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 business decisions &amp;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4526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4160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94560" y="4526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4160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4526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4160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4526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4160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69480" y="4526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 of the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645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orders, and average order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 Analysis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and best-selling products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51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breakdown by region and country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Payment Insights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and payment methods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657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3776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vs loss orders and key findings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160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37760" y="4160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 ·  DATA PREPARATION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Process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performed in Power Query Editor before building the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91440" cy="1371600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Source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global_ecommerce_sales Excel table (2,000 rows × 21 columns)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91440" cy="1371600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Order_ID – no duplicate order IDs found. Kept all 2,000 unique orders.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23444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91440" cy="1371600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5508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Fix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→ Date  |  Unit_Price, Total_Sales, Profit → Decimal  |  Quantity → Whole Number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78892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91440" cy="1371600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Blank Check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 in key columns (Order_ID, Total_Sales, Profit). Shipping_Cost &amp; Discount handled.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78892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46120" y="2788920"/>
            <a:ext cx="91440" cy="1371600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2900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2900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29000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Created: net_sales, profit_margin, price_tier (low/med/high), profit_status (profit/loss)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78892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72200" y="2788920"/>
            <a:ext cx="91440" cy="1371600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5508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&amp; Order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column names, reordered for model clarity, set final data types.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 Sales Analysis  |  Confidential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Scorecard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metrics calculated from the cleaned data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2296" cy="1051560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Franklin Gothic Heavy" panose="020B0903020102020204" pitchFamily="34" charset="0"/>
                <a:ea typeface="Georgia" pitchFamily="34" charset="-122"/>
                <a:cs typeface="Georgia" pitchFamily="34" charset="-120"/>
              </a:rPr>
              <a:t>$484.6K</a:t>
            </a:r>
            <a:endParaRPr lang="en-US" sz="2000" dirty="0">
              <a:latin typeface="Franklin Gothic Heavy" panose="020B09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82296" cy="10515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51760" y="1325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Franklin Gothic Heavy" panose="020B0903020102020204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2000" dirty="0">
              <a:latin typeface="Franklin Gothic Heavy" panose="020B09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5176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82296" cy="1051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0600" y="1325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Franklin Gothic Heavy" panose="020B0903020102020204" pitchFamily="34" charset="0"/>
                <a:ea typeface="Georgia" pitchFamily="34" charset="-122"/>
                <a:cs typeface="Georgia" pitchFamily="34" charset="-120"/>
              </a:rPr>
              <a:t>$242.28</a:t>
            </a:r>
            <a:endParaRPr lang="en-US" sz="2000" dirty="0">
              <a:latin typeface="Franklin Gothic Heavy" panose="020B0903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1887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82296" cy="10515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49440" y="1325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Franklin Gothic Heavy" panose="020B0903020102020204" pitchFamily="34" charset="0"/>
                <a:ea typeface="Georgia" pitchFamily="34" charset="-122"/>
                <a:cs typeface="Georgia" pitchFamily="34" charset="-120"/>
              </a:rPr>
              <a:t>$158.9K</a:t>
            </a:r>
            <a:endParaRPr lang="en-US" sz="2000" dirty="0">
              <a:latin typeface="Franklin Gothic Heavy" panose="020B09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944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42316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" y="2423160"/>
            <a:ext cx="82296" cy="105156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Franklin Gothic Heavy" panose="020B0903020102020204" pitchFamily="34" charset="0"/>
                <a:ea typeface="Georgia" pitchFamily="34" charset="-122"/>
                <a:cs typeface="Georgia" pitchFamily="34" charset="-120"/>
              </a:rPr>
              <a:t>7,115</a:t>
            </a:r>
            <a:endParaRPr lang="en-US" sz="2000" dirty="0">
              <a:latin typeface="Franklin Gothic Heavy" panose="020B09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242316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468880" y="2423160"/>
            <a:ext cx="82296" cy="105156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65176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Franklin Gothic Heavy" panose="020B0903020102020204" pitchFamily="34" charset="0"/>
                <a:ea typeface="Georgia" pitchFamily="34" charset="-122"/>
                <a:cs typeface="Georgia" pitchFamily="34" charset="-120"/>
              </a:rPr>
              <a:t>$25.8K</a:t>
            </a:r>
            <a:endParaRPr lang="en-US" sz="2000" dirty="0">
              <a:latin typeface="Franklin Gothic Heavy" panose="020B09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65176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42316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617720" y="2423160"/>
            <a:ext cx="82296" cy="10515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0060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Franklin Gothic Heavy" panose="020B0903020102020204" pitchFamily="34" charset="0"/>
                <a:ea typeface="Georgia" pitchFamily="34" charset="-122"/>
                <a:cs typeface="Georgia" pitchFamily="34" charset="-120"/>
              </a:rPr>
              <a:t>32.8%</a:t>
            </a:r>
            <a:endParaRPr lang="en-US" sz="2000" dirty="0">
              <a:latin typeface="Franklin Gothic Heavy" panose="020B09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0060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242316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766560" y="2423160"/>
            <a:ext cx="82296" cy="10515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4944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Franklin Gothic Medium" panose="020B0603020102020204" pitchFamily="34" charset="0"/>
                <a:ea typeface="Georgia" pitchFamily="34" charset="-122"/>
                <a:cs typeface="Georgia" pitchFamily="34" charset="-120"/>
              </a:rPr>
              <a:t>1,728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4944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Orders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70332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INSIGHT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= 53% of revenue  ·  Europe is top region ($137K)  ·  Credit Card = 40% of sales  ·  86% of orders are profitable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 Sales Analysis  |  Confidential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DAX Formulas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created in the data model for KPI cards and visuals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280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536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 Sales[Total_Sales] 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" y="2103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359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Orders = DISTINCTCOUNT( Sales[Order_ID] 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" y="2926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" y="3182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AOV = DIVIDE( [Total Sales], [Total Orders] 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" y="3749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Profit = SUM( Sales[Profit] 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19472" y="1280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1536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Margin = DIVIDE( [Total Profit], [Total Sales] 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01168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19472" y="2103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359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Sales = SUM( Sales[net_sales] 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19472" y="2926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3182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 Cost = SUM( Sales[Shipping_Cost] 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19472" y="3749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Orders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Orders = CALCULATE( [Total Orders], Sales[profit_status] = "profit" 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 Sales Analysis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56ABE0-AFA8-E785-368E-229D3D258E15}"/>
              </a:ext>
            </a:extLst>
          </p:cNvPr>
          <p:cNvSpPr/>
          <p:nvPr/>
        </p:nvSpPr>
        <p:spPr>
          <a:xfrm>
            <a:off x="-2274888" y="-2109788"/>
            <a:ext cx="14109701" cy="781050"/>
          </a:xfrm>
          <a:prstGeom prst="roundRect">
            <a:avLst>
              <a:gd name="adj" fmla="val 40513"/>
            </a:avLst>
          </a:prstGeom>
          <a:solidFill>
            <a:srgbClr val="304D68"/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                                            </a:t>
            </a:r>
            <a:r>
              <a:rPr lang="en-IN" sz="1400" baseline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GLOBAL ECOMMERCE SALES DASHBOARD                                        </a:t>
            </a:r>
            <a:r>
              <a:rPr lang="en-IN" sz="1200" baseline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Bodoni MT Black" panose="02070A03080606020203" pitchFamily="18" charset="0"/>
                <a:ea typeface="Amiri" panose="00000500000000000000" pitchFamily="2" charset="-78"/>
                <a:cs typeface="Amiri" panose="00000500000000000000" pitchFamily="2" charset="-78"/>
              </a:rPr>
              <a:t>PRODUCT ANALYSIS</a:t>
            </a:r>
            <a:endParaRPr lang="en-IN" sz="1200">
              <a:ln>
                <a:solidFill>
                  <a:schemeClr val="bg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latin typeface="Bodoni MT Black" panose="02070A03080606020203" pitchFamily="18" charset="0"/>
              <a:ea typeface="Amiri" panose="00000500000000000000" pitchFamily="2" charset="-78"/>
              <a:cs typeface="Amiri" panose="000005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9E1C70-F1E1-60C3-9E9E-4393D93C5B1C}"/>
              </a:ext>
            </a:extLst>
          </p:cNvPr>
          <p:cNvSpPr/>
          <p:nvPr/>
        </p:nvSpPr>
        <p:spPr>
          <a:xfrm>
            <a:off x="-4927600" y="-1257300"/>
            <a:ext cx="2260600" cy="8053388"/>
          </a:xfrm>
          <a:prstGeom prst="roundRect">
            <a:avLst>
              <a:gd name="adj" fmla="val 9688"/>
            </a:avLst>
          </a:prstGeom>
          <a:solidFill>
            <a:schemeClr val="accent4">
              <a:lumMod val="50000"/>
            </a:schemeClr>
          </a:solidFill>
          <a:ln>
            <a:solidFill>
              <a:srgbClr val="3333FF"/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6A264B-1000-DB7C-32CB-3D3EDCD85F84}"/>
              </a:ext>
            </a:extLst>
          </p:cNvPr>
          <p:cNvSpPr/>
          <p:nvPr/>
        </p:nvSpPr>
        <p:spPr>
          <a:xfrm>
            <a:off x="-1765300" y="-1011238"/>
            <a:ext cx="3090863" cy="94138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rgbClr val="7030A0"/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/>
              <a:t>                         </a:t>
            </a:r>
            <a:r>
              <a:rPr lang="en-IN" sz="160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</a:rPr>
              <a:t>CATEGORY</a:t>
            </a:r>
          </a:p>
          <a:p>
            <a:pPr algn="l"/>
            <a:r>
              <a:rPr lang="en-IN" sz="160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</a:rPr>
              <a:t>              </a:t>
            </a:r>
            <a:r>
              <a:rPr lang="en-IN" sz="1600" baseline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</a:rPr>
              <a:t>   </a:t>
            </a:r>
            <a:r>
              <a:rPr lang="en-IN" sz="1600" baseline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</a:rPr>
              <a:t> </a:t>
            </a:r>
          </a:p>
          <a:p>
            <a:pPr algn="l"/>
            <a:r>
              <a:rPr lang="en-IN" sz="1600" baseline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</a:rPr>
              <a:t>                     4</a:t>
            </a:r>
            <a:endParaRPr lang="en-IN" sz="1600" baseline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masis MT Pro Black" panose="02040A04050005020304" pitchFamily="18" charset="0"/>
            </a:endParaRPr>
          </a:p>
          <a:p>
            <a:pPr algn="l"/>
            <a:endParaRPr lang="en-IN" sz="160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masis MT Pro Black" panose="02040A040500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EE9EE7-E377-4BA5-A748-7CDCD18ED9C3}"/>
              </a:ext>
            </a:extLst>
          </p:cNvPr>
          <p:cNvSpPr/>
          <p:nvPr/>
        </p:nvSpPr>
        <p:spPr>
          <a:xfrm>
            <a:off x="1854200" y="-1009650"/>
            <a:ext cx="3090863" cy="92233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rgbClr val="7030A0"/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/>
              <a:t>                         </a:t>
            </a:r>
            <a:r>
              <a:rPr lang="en-IN" sz="1200" baseline="0">
                <a:ln>
                  <a:solidFill>
                    <a:schemeClr val="bg2">
                      <a:lumMod val="9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PRODUCT TRACKED</a:t>
            </a:r>
          </a:p>
          <a:p>
            <a:pPr algn="l"/>
            <a:r>
              <a:rPr lang="en-IN" sz="1200" baseline="0">
                <a:ln>
                  <a:solidFill>
                    <a:schemeClr val="bg2">
                      <a:lumMod val="9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  </a:t>
            </a:r>
          </a:p>
          <a:p>
            <a:pPr algn="l"/>
            <a:r>
              <a:rPr lang="en-IN" sz="1200" baseline="0">
                <a:ln>
                  <a:solidFill>
                    <a:schemeClr val="bg2">
                      <a:lumMod val="9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                         </a:t>
            </a:r>
            <a:r>
              <a:rPr lang="en-IN" sz="1200" baseline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43</a:t>
            </a:r>
          </a:p>
          <a:p>
            <a:pPr algn="l"/>
            <a:endParaRPr lang="en-IN" sz="1200" baseline="0">
              <a:ln>
                <a:solidFill>
                  <a:schemeClr val="bg2">
                    <a:lumMod val="90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Amasis MT Pro Black" panose="02040A04050005020304" pitchFamily="18" charset="0"/>
            </a:endParaRPr>
          </a:p>
          <a:p>
            <a:pPr algn="l"/>
            <a:endParaRPr lang="en-IN" sz="1200">
              <a:ln>
                <a:solidFill>
                  <a:schemeClr val="bg2">
                    <a:lumMod val="90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Amasis MT Pro Black" panose="02040A040500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E67C15-B0A5-4724-A735-0BC9095B1951}"/>
              </a:ext>
            </a:extLst>
          </p:cNvPr>
          <p:cNvSpPr/>
          <p:nvPr/>
        </p:nvSpPr>
        <p:spPr>
          <a:xfrm>
            <a:off x="5286375" y="-1044575"/>
            <a:ext cx="3092450" cy="92233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rgbClr val="7030A0"/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/>
              <a:t>                          </a:t>
            </a:r>
            <a:r>
              <a:rPr lang="en-IN" sz="1600">
                <a:ln>
                  <a:solidFill>
                    <a:schemeClr val="bg2">
                      <a:lumMod val="90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Amasis MT Pro Black" panose="02040A04050005020304" pitchFamily="18" charset="0"/>
              </a:rPr>
              <a:t>TOP CATEGORY</a:t>
            </a:r>
          </a:p>
          <a:p>
            <a:pPr algn="l"/>
            <a:r>
              <a:rPr lang="en-IN" sz="1600">
                <a:ln>
                  <a:solidFill>
                    <a:schemeClr val="bg2">
                      <a:lumMod val="90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Bodoni MT Black" panose="02070A03080606020203" pitchFamily="18" charset="0"/>
              </a:rPr>
              <a:t>              </a:t>
            </a:r>
            <a:r>
              <a:rPr lang="en-IN" sz="1100" b="0" i="0" u="none" strike="noStrike" baseline="0">
                <a:ln>
                  <a:noFill/>
                </a:ln>
                <a:solidFill>
                  <a:schemeClr val="lt1"/>
                </a:solidFill>
                <a:effectLst/>
                <a:latin typeface="Bodoni MT Black" panose="02070A03080606020203" pitchFamily="18" charset="0"/>
                <a:ea typeface="+mn-ea"/>
                <a:cs typeface="+mn-cs"/>
              </a:rPr>
              <a:t> </a:t>
            </a:r>
          </a:p>
          <a:p>
            <a:pPr algn="l"/>
            <a:r>
              <a:rPr lang="en-IN" sz="1100" b="0" i="0" u="none" strike="noStrike" baseline="0">
                <a:ln>
                  <a:noFill/>
                </a:ln>
                <a:solidFill>
                  <a:schemeClr val="lt1"/>
                </a:solidFill>
                <a:effectLst/>
                <a:latin typeface="Bodoni MT Black" panose="02070A03080606020203" pitchFamily="18" charset="0"/>
                <a:ea typeface="+mn-ea"/>
                <a:cs typeface="+mn-cs"/>
              </a:rPr>
              <a:t>                  </a:t>
            </a:r>
            <a:r>
              <a:rPr lang="en-IN" sz="1600" b="0" i="0" u="none" strike="noStrike" baseline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lt1"/>
                </a:solidFill>
                <a:effectLst/>
                <a:latin typeface="Bodoni MT Black" panose="02070A03080606020203" pitchFamily="18" charset="0"/>
                <a:ea typeface="+mn-ea"/>
                <a:cs typeface="+mn-cs"/>
              </a:rPr>
              <a:t> </a:t>
            </a:r>
            <a:r>
              <a:rPr lang="en-IN" sz="1600" b="0" i="0" u="none" strike="noStrike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lt1"/>
                </a:solidFill>
                <a:effectLst/>
                <a:latin typeface="Bodoni MT Black" panose="02070A03080606020203" pitchFamily="18" charset="0"/>
                <a:ea typeface="+mn-ea"/>
                <a:cs typeface="+mn-cs"/>
              </a:rPr>
              <a:t>Furniture</a:t>
            </a:r>
            <a:r>
              <a:rPr lang="en-IN" sz="1600">
                <a:ln>
                  <a:solidFill>
                    <a:schemeClr val="bg1">
                      <a:lumMod val="95000"/>
                    </a:schemeClr>
                  </a:solidFill>
                </a:ln>
                <a:effectLst/>
                <a:latin typeface="Bodoni MT Black" panose="02070A03080606020203" pitchFamily="18" charset="0"/>
              </a:rPr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D16D9D-6CFA-4420-B83E-09206D8C6438}"/>
              </a:ext>
            </a:extLst>
          </p:cNvPr>
          <p:cNvSpPr/>
          <p:nvPr/>
        </p:nvSpPr>
        <p:spPr>
          <a:xfrm>
            <a:off x="8769350" y="-1063625"/>
            <a:ext cx="3092450" cy="9207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rgbClr val="7030A0"/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>
                <a:latin typeface="Amasis MT Pro Black" panose="02040A04050005020304" pitchFamily="18" charset="0"/>
              </a:rPr>
              <a:t>               </a:t>
            </a:r>
            <a:r>
              <a:rPr lang="en-IN" sz="1400"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Amasis MT Pro Black" panose="02040A04050005020304" pitchFamily="18" charset="0"/>
              </a:rPr>
              <a:t>TOP PRODUCT</a:t>
            </a:r>
          </a:p>
          <a:p>
            <a:pPr algn="l"/>
            <a:r>
              <a:rPr lang="en-IN" sz="1400"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Amasis MT Pro Black" panose="02040A04050005020304" pitchFamily="18" charset="0"/>
              </a:rPr>
              <a:t>               </a:t>
            </a:r>
          </a:p>
          <a:p>
            <a:pPr algn="l"/>
            <a:r>
              <a:rPr lang="en-IN" sz="1400"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Amasis MT Pro Black" panose="02040A04050005020304" pitchFamily="18" charset="0"/>
              </a:rPr>
              <a:t>               </a:t>
            </a:r>
            <a:r>
              <a:rPr lang="en-IN" sz="1100" b="0" i="0" u="none" strike="noStrike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chemeClr val="lt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  <a:ea typeface="+mn-ea"/>
                <a:cs typeface="+mn-cs"/>
              </a:rPr>
              <a:t>Standing Desk Converter</a:t>
            </a:r>
            <a:r>
              <a:rPr lang="en-IN" sz="1100"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E19EE-2738-F28A-3FBC-179954187ECC}"/>
              </a:ext>
            </a:extLst>
          </p:cNvPr>
          <p:cNvSpPr/>
          <p:nvPr/>
        </p:nvSpPr>
        <p:spPr>
          <a:xfrm>
            <a:off x="-1819275" y="184150"/>
            <a:ext cx="14012863" cy="63769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101600">
              <a:schemeClr val="bg2">
                <a:lumMod val="25000"/>
                <a:alpha val="60000"/>
              </a:schemeClr>
            </a:glow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ABCDF9-D15D-9E71-CDF0-321540780136}"/>
              </a:ext>
            </a:extLst>
          </p:cNvPr>
          <p:cNvSpPr/>
          <p:nvPr/>
        </p:nvSpPr>
        <p:spPr>
          <a:xfrm>
            <a:off x="5054600" y="174625"/>
            <a:ext cx="50800" cy="6611938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E44225-2F83-487B-51FC-EFE2638B2F4B}"/>
              </a:ext>
            </a:extLst>
          </p:cNvPr>
          <p:cNvSpPr/>
          <p:nvPr/>
        </p:nvSpPr>
        <p:spPr>
          <a:xfrm>
            <a:off x="-1771650" y="3300413"/>
            <a:ext cx="13984288" cy="68262"/>
          </a:xfrm>
          <a:prstGeom prst="rect">
            <a:avLst/>
          </a:prstGeom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pic>
        <p:nvPicPr>
          <p:cNvPr id="7188" name="Picture 13">
            <a:extLst>
              <a:ext uri="{FF2B5EF4-FFF2-40B4-BE49-F238E27FC236}">
                <a16:creationId xmlns:a16="http://schemas.microsoft.com/office/drawing/2014/main" id="{1DA967BD-0249-9223-AFCD-671919B2C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39938" y="-2122488"/>
            <a:ext cx="80010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57AD66-8DE7-14AA-36A8-51F09CC6C72A}"/>
              </a:ext>
            </a:extLst>
          </p:cNvPr>
          <p:cNvSpPr/>
          <p:nvPr/>
        </p:nvSpPr>
        <p:spPr>
          <a:xfrm>
            <a:off x="-4811713" y="-1125538"/>
            <a:ext cx="2068513" cy="612775"/>
          </a:xfrm>
          <a:prstGeom prst="roundRect">
            <a:avLst/>
          </a:prstGeom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/>
              <a:t>                 </a:t>
            </a:r>
            <a:r>
              <a:rPr lang="en-IN" sz="1400"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</a:rPr>
              <a:t>FILTER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1943F9D-B119-4FEE-908C-5DF8919638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6518313"/>
              </p:ext>
            </p:extLst>
          </p:nvPr>
        </p:nvGraphicFramePr>
        <p:xfrm>
          <a:off x="-1724025" y="246063"/>
          <a:ext cx="6783388" cy="3005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2778C2B-8CFD-4F8F-952C-5656B0F853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7823659"/>
              </p:ext>
            </p:extLst>
          </p:nvPr>
        </p:nvGraphicFramePr>
        <p:xfrm>
          <a:off x="5220494" y="259557"/>
          <a:ext cx="6946900" cy="293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F6081DA-45DB-46BB-A681-90933BF26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403356"/>
              </p:ext>
            </p:extLst>
          </p:nvPr>
        </p:nvGraphicFramePr>
        <p:xfrm>
          <a:off x="-1663700" y="3429000"/>
          <a:ext cx="6656388" cy="3074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F19F102-BBFE-444A-AEA5-48F5533EC5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0888406"/>
              </p:ext>
            </p:extLst>
          </p:nvPr>
        </p:nvGraphicFramePr>
        <p:xfrm>
          <a:off x="5183188" y="3398838"/>
          <a:ext cx="6892925" cy="297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7" name="table">
            <a:extLst>
              <a:ext uri="{FF2B5EF4-FFF2-40B4-BE49-F238E27FC236}">
                <a16:creationId xmlns:a16="http://schemas.microsoft.com/office/drawing/2014/main" id="{1CC2540F-E8F6-305B-5EA7-6E85C4DF52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856163" y="2033588"/>
            <a:ext cx="2095500" cy="1590675"/>
          </a:xfrm>
          <a:prstGeom prst="rect">
            <a:avLst/>
          </a:prstGeom>
        </p:spPr>
      </p:pic>
      <p:pic>
        <p:nvPicPr>
          <p:cNvPr id="18" name="table">
            <a:extLst>
              <a:ext uri="{FF2B5EF4-FFF2-40B4-BE49-F238E27FC236}">
                <a16:creationId xmlns:a16="http://schemas.microsoft.com/office/drawing/2014/main" id="{4BB16615-33C7-E05F-629A-5DD26CE92B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821238" y="3762375"/>
            <a:ext cx="2054225" cy="1231900"/>
          </a:xfrm>
          <a:prstGeom prst="rect">
            <a:avLst/>
          </a:prstGeom>
        </p:spPr>
      </p:pic>
      <p:pic>
        <p:nvPicPr>
          <p:cNvPr id="19" name="table">
            <a:extLst>
              <a:ext uri="{FF2B5EF4-FFF2-40B4-BE49-F238E27FC236}">
                <a16:creationId xmlns:a16="http://schemas.microsoft.com/office/drawing/2014/main" id="{5195509F-4A93-8C79-7DF3-4A604F180C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840288" y="5116513"/>
            <a:ext cx="2103438" cy="1185862"/>
          </a:xfrm>
          <a:prstGeom prst="rect">
            <a:avLst/>
          </a:prstGeom>
        </p:spPr>
      </p:pic>
      <p:pic>
        <p:nvPicPr>
          <p:cNvPr id="7182" name="Rectangle: Rounded Corners 23">
            <a:extLst>
              <a:ext uri="{FF2B5EF4-FFF2-40B4-BE49-F238E27FC236}">
                <a16:creationId xmlns:a16="http://schemas.microsoft.com/office/drawing/2014/main" id="{32229613-897D-5DDF-A7D8-B4FACFB4EF6A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4588" y="-341313"/>
            <a:ext cx="2266950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E9ACC0-F4FF-42BE-8A83-5CBF5F2D8969}"/>
              </a:ext>
            </a:extLst>
          </p:cNvPr>
          <p:cNvSpPr/>
          <p:nvPr/>
        </p:nvSpPr>
        <p:spPr>
          <a:xfrm>
            <a:off x="-4830763" y="527050"/>
            <a:ext cx="2058988" cy="61436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IN" sz="1100"/>
              <a:t>                 </a:t>
            </a:r>
            <a:r>
              <a:rPr lang="en-IN" sz="1400"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</a:rPr>
              <a:t>PRODUCT</a:t>
            </a:r>
            <a:r>
              <a:rPr lang="en-IN" sz="1400" baseline="0"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</a:rPr>
              <a:t>             ANALYSIS</a:t>
            </a:r>
            <a:endParaRPr lang="en-IN" sz="140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masis MT Pro Black" panose="02040A04050005020304" pitchFamily="18" charset="0"/>
            </a:endParaRPr>
          </a:p>
        </p:txBody>
      </p:sp>
      <p:pic>
        <p:nvPicPr>
          <p:cNvPr id="7180" name="Rectangle: Rounded Corners 25">
            <a:extLst>
              <a:ext uri="{FF2B5EF4-FFF2-40B4-BE49-F238E27FC236}">
                <a16:creationId xmlns:a16="http://schemas.microsoft.com/office/drawing/2014/main" id="{7FEC08CC-3710-2DF1-9CFE-16F5BA2672B0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4588" y="1182688"/>
            <a:ext cx="2276475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006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F5A2BC-5B06-089B-6925-ABA7E285047F}"/>
              </a:ext>
            </a:extLst>
          </p:cNvPr>
          <p:cNvGraphicFramePr>
            <a:graphicFrameLocks noGrp="1"/>
          </p:cNvGraphicFramePr>
          <p:nvPr/>
        </p:nvGraphicFramePr>
        <p:xfrm>
          <a:off x="-5286375" y="-3914775"/>
          <a:ext cx="4921422" cy="3262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134">
                  <a:extLst>
                    <a:ext uri="{9D8B030D-6E8A-4147-A177-3AD203B41FA5}">
                      <a16:colId xmlns:a16="http://schemas.microsoft.com/office/drawing/2014/main" val="3362782141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816051547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118663830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864721170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006188280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3326425244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3278157444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195477721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4160331794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3787788424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664743461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1779370973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060059812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121758598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3518877399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3178049063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623744966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169878389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40263575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3836584837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241878740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3336940302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1194608629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720229926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559077487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4204070521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818607601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804286424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649661329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3880306230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055419281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404054216"/>
                    </a:ext>
                  </a:extLst>
                </a:gridCol>
                <a:gridCol w="149134">
                  <a:extLst>
                    <a:ext uri="{9D8B030D-6E8A-4147-A177-3AD203B41FA5}">
                      <a16:colId xmlns:a16="http://schemas.microsoft.com/office/drawing/2014/main" val="2874357224"/>
                    </a:ext>
                  </a:extLst>
                </a:gridCol>
              </a:tblGrid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82029347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32421796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62807641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1369433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3859852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7338984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6749524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34494073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2424871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84364887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5079229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9972036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0506396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03913204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6404841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660902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42178319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43331184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635617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24768353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5960995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14268123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3581725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8204232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53381232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65832650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4640136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590636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1009089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87726234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35174417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18505957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11572101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84514879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04566061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5588639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48682847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5520037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72853036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3498671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29564931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7847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56879267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006108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3010925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00822047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64271449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90546422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65941505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89321600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4965150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25527381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02375080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9213989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67609262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3612330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413019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0936643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43960748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8779862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28530822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35527826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90735796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8456742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71781744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855969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98052629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52927392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90024706"/>
                  </a:ext>
                </a:extLst>
              </a:tr>
              <a:tr h="4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>
                          <a:effectLst/>
                        </a:rPr>
                        <a:t> </a:t>
                      </a:r>
                      <a:endParaRPr lang="en-IN" sz="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300" u="none" strike="noStrike" dirty="0">
                          <a:effectLst/>
                        </a:rPr>
                        <a:t> </a:t>
                      </a:r>
                      <a:endParaRPr lang="en-IN" sz="3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65580162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C97B44-3A6A-B1BE-F92A-610A904F2BE5}"/>
              </a:ext>
            </a:extLst>
          </p:cNvPr>
          <p:cNvSpPr/>
          <p:nvPr/>
        </p:nvSpPr>
        <p:spPr>
          <a:xfrm>
            <a:off x="-5286375" y="-3267075"/>
            <a:ext cx="2319337" cy="11696700"/>
          </a:xfrm>
          <a:prstGeom prst="roundRect">
            <a:avLst>
              <a:gd name="adj" fmla="val 10145"/>
            </a:avLst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7A68E8-87C8-F7A0-4F89-F262B28D0230}"/>
              </a:ext>
            </a:extLst>
          </p:cNvPr>
          <p:cNvSpPr/>
          <p:nvPr/>
        </p:nvSpPr>
        <p:spPr>
          <a:xfrm>
            <a:off x="-2967038" y="-3763963"/>
            <a:ext cx="17297401" cy="760413"/>
          </a:xfrm>
          <a:prstGeom prst="roundRect">
            <a:avLst>
              <a:gd name="adj" fmla="val 38889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C06A42-8A87-4BBA-8ECE-0EBA6529290D}"/>
              </a:ext>
            </a:extLst>
          </p:cNvPr>
          <p:cNvSpPr/>
          <p:nvPr/>
        </p:nvSpPr>
        <p:spPr>
          <a:xfrm>
            <a:off x="-1746250" y="-2674938"/>
            <a:ext cx="3109913" cy="9620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</a:t>
            </a:r>
            <a:r>
              <a:rPr lang="en-IN" sz="110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   </a:t>
            </a:r>
            <a:r>
              <a:rPr lang="en-IN" sz="16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TOP REGION</a:t>
            </a:r>
            <a:endParaRPr lang="en-IN" sz="1100" b="0" i="0" u="none" strike="noStrike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IN" sz="1600" b="0" i="0" u="none" strike="noStrike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  <a:ea typeface="+mn-ea"/>
                <a:cs typeface="+mn-cs"/>
              </a:rPr>
              <a:t>               </a:t>
            </a:r>
          </a:p>
          <a:p>
            <a:pPr algn="l"/>
            <a:r>
              <a:rPr lang="en-IN" sz="1600" b="0" i="0" u="none" strike="noStrike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  <a:ea typeface="+mn-ea"/>
                <a:cs typeface="+mn-cs"/>
              </a:rPr>
              <a:t>              </a:t>
            </a:r>
            <a:r>
              <a:rPr lang="en-IN" sz="1600" b="0" i="0" u="none" strike="noStrike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  <a:ea typeface="+mn-ea"/>
                <a:cs typeface="+mn-cs"/>
              </a:rPr>
              <a:t>EUROPE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7139EA-B0F5-498D-B3E3-30B97F77CCCF}"/>
              </a:ext>
            </a:extLst>
          </p:cNvPr>
          <p:cNvSpPr/>
          <p:nvPr/>
        </p:nvSpPr>
        <p:spPr>
          <a:xfrm>
            <a:off x="2141538" y="-2687638"/>
            <a:ext cx="3092450" cy="9239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>
                <a:latin typeface="Amasis MT Pro Black" panose="02040A04050005020304" pitchFamily="18" charset="0"/>
              </a:rPr>
              <a:t>                 </a:t>
            </a:r>
            <a:r>
              <a:rPr lang="en-IN" sz="16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TOP  COUNTRY</a:t>
            </a:r>
          </a:p>
          <a:p>
            <a:pPr algn="l"/>
            <a:r>
              <a:rPr lang="en-IN" sz="1600" baseline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        </a:t>
            </a:r>
          </a:p>
          <a:p>
            <a:pPr algn="l"/>
            <a:r>
              <a:rPr lang="en-IN" sz="1600" baseline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              </a:t>
            </a:r>
            <a:r>
              <a:rPr lang="en-IN" sz="16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masis MT Pro Black" panose="02040A04050005020304" pitchFamily="18" charset="0"/>
              </a:rPr>
              <a:t>MEXICO</a:t>
            </a:r>
            <a:endParaRPr lang="en-IN" sz="160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Amasis MT Pro Black" panose="02040A040500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6E74F3-92F4-47FE-AD15-C1288576AB1E}"/>
              </a:ext>
            </a:extLst>
          </p:cNvPr>
          <p:cNvSpPr/>
          <p:nvPr/>
        </p:nvSpPr>
        <p:spPr>
          <a:xfrm>
            <a:off x="5900738" y="-2678113"/>
            <a:ext cx="3084512" cy="92233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200">
                <a:latin typeface="Bodoni MT Black" panose="02070A03080606020203" pitchFamily="18" charset="0"/>
              </a:rPr>
              <a:t>                   </a:t>
            </a:r>
            <a:r>
              <a:rPr lang="en-IN" sz="160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QUANTITY</a:t>
            </a:r>
            <a:endParaRPr lang="en-IN" sz="160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Bodoni MT Black" panose="02070A03080606020203" pitchFamily="18" charset="0"/>
            </a:endParaRPr>
          </a:p>
          <a:p>
            <a:pPr algn="l"/>
            <a:endParaRPr lang="en-IN" sz="1600" baseline="0"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Bodoni MT Black" panose="02070A03080606020203" pitchFamily="18" charset="0"/>
            </a:endParaRPr>
          </a:p>
          <a:p>
            <a:pPr algn="l"/>
            <a:r>
              <a:rPr lang="en-IN" sz="1600" baseline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                 </a:t>
            </a:r>
            <a:r>
              <a:rPr lang="en-IN" sz="1600" baseline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 </a:t>
            </a:r>
            <a:r>
              <a:rPr lang="en-IN" sz="16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4420</a:t>
            </a:r>
            <a:endParaRPr lang="en-IN" sz="160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Bodoni MT Black" panose="02070A03080606020203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E96074-7761-46A3-BC81-883E8DA63445}"/>
              </a:ext>
            </a:extLst>
          </p:cNvPr>
          <p:cNvSpPr/>
          <p:nvPr/>
        </p:nvSpPr>
        <p:spPr>
          <a:xfrm>
            <a:off x="9645650" y="-2657475"/>
            <a:ext cx="3108325" cy="9683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glow rad="101600">
              <a:srgbClr val="7030A0">
                <a:alpha val="60000"/>
              </a:srgbClr>
            </a:glow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/>
              <a:t>                      </a:t>
            </a:r>
            <a:r>
              <a:rPr lang="en-IN" sz="16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UNIT   SOLD</a:t>
            </a:r>
          </a:p>
          <a:p>
            <a:pPr algn="l"/>
            <a:endParaRPr lang="en-IN" sz="1600" baseline="0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Bodoni MT Black" panose="02070A03080606020203" pitchFamily="18" charset="0"/>
            </a:endParaRPr>
          </a:p>
          <a:p>
            <a:pPr algn="l"/>
            <a:r>
              <a:rPr lang="en-IN" sz="1600" baseline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                </a:t>
            </a:r>
            <a:r>
              <a:rPr lang="en-IN" sz="16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1833</a:t>
            </a:r>
          </a:p>
          <a:p>
            <a:pPr algn="l"/>
            <a:endParaRPr lang="en-IN" sz="1600" baseline="0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Bodoni MT Black" panose="02070A03080606020203" pitchFamily="18" charset="0"/>
            </a:endParaRPr>
          </a:p>
          <a:p>
            <a:pPr algn="l"/>
            <a:r>
              <a:rPr lang="en-IN" sz="1600" baseline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            </a:t>
            </a:r>
            <a:endParaRPr lang="en-IN" sz="1600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Bodoni MT Black" panose="02070A03080606020203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491BBB-8D4C-F293-E4AA-F737B9BE0946}"/>
              </a:ext>
            </a:extLst>
          </p:cNvPr>
          <p:cNvSpPr/>
          <p:nvPr/>
        </p:nvSpPr>
        <p:spPr>
          <a:xfrm>
            <a:off x="-2965450" y="-1377950"/>
            <a:ext cx="16894175" cy="10436225"/>
          </a:xfrm>
          <a:prstGeom prst="roundRect">
            <a:avLst>
              <a:gd name="adj" fmla="val 9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714DC3-8909-A04C-59DA-7A454DC5C3AA}"/>
              </a:ext>
            </a:extLst>
          </p:cNvPr>
          <p:cNvSpPr/>
          <p:nvPr/>
        </p:nvSpPr>
        <p:spPr>
          <a:xfrm>
            <a:off x="5481638" y="-1604963"/>
            <a:ext cx="133350" cy="84042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58711B-B1EB-7731-C842-78969F07623C}"/>
              </a:ext>
            </a:extLst>
          </p:cNvPr>
          <p:cNvSpPr/>
          <p:nvPr/>
        </p:nvSpPr>
        <p:spPr>
          <a:xfrm>
            <a:off x="-2905125" y="3441700"/>
            <a:ext cx="17021175" cy="12065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2364C8-5931-43EF-A156-96FC697C4CC2}"/>
              </a:ext>
            </a:extLst>
          </p:cNvPr>
          <p:cNvSpPr/>
          <p:nvPr/>
        </p:nvSpPr>
        <p:spPr>
          <a:xfrm rot="16200000">
            <a:off x="60325" y="3835400"/>
            <a:ext cx="10550525" cy="130175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4FC4B9-F3DC-453D-ABAA-6829EB5D82C1}"/>
              </a:ext>
            </a:extLst>
          </p:cNvPr>
          <p:cNvSpPr/>
          <p:nvPr/>
        </p:nvSpPr>
        <p:spPr>
          <a:xfrm>
            <a:off x="-2992438" y="-3735388"/>
            <a:ext cx="17422813" cy="822325"/>
          </a:xfrm>
          <a:prstGeom prst="roundRect">
            <a:avLst>
              <a:gd name="adj" fmla="val 38889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/>
              <a:t> </a:t>
            </a:r>
            <a:endParaRPr lang="en-IN" sz="1800" baseline="0">
              <a:latin typeface="Bodoni MT Black" panose="02070A03080606020203" pitchFamily="18" charset="0"/>
            </a:endParaRPr>
          </a:p>
          <a:p>
            <a:pPr algn="l"/>
            <a:r>
              <a:rPr lang="en-IN" sz="1800" baseline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Bodoni MT Black" panose="02070A03080606020203" pitchFamily="18" charset="0"/>
              </a:rPr>
              <a:t>              </a:t>
            </a:r>
            <a:r>
              <a:rPr lang="en-IN" sz="1800" baseline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Bodoni MT Black" panose="02070A03080606020203" pitchFamily="18" charset="0"/>
              </a:rPr>
              <a:t>GLOBAL ECOMMERCE SALES DASHBOARD                                                                        </a:t>
            </a:r>
            <a:r>
              <a:rPr lang="en-IN" sz="1800" baseline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REGION SALES</a:t>
            </a:r>
            <a:endParaRPr lang="en-IN" sz="180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Bodoni MT Black" panose="02070A03080606020203" pitchFamily="18" charset="0"/>
            </a:endParaRPr>
          </a:p>
        </p:txBody>
      </p:sp>
      <p:pic>
        <p:nvPicPr>
          <p:cNvPr id="10251" name="Picture 15">
            <a:extLst>
              <a:ext uri="{FF2B5EF4-FFF2-40B4-BE49-F238E27FC236}">
                <a16:creationId xmlns:a16="http://schemas.microsoft.com/office/drawing/2014/main" id="{C4262052-2A01-519B-06B6-452C617DE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38450" y="-3724275"/>
            <a:ext cx="885825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0DF8FD-5C8B-D79C-A5EB-3D71D169F3CD}"/>
              </a:ext>
            </a:extLst>
          </p:cNvPr>
          <p:cNvSpPr/>
          <p:nvPr/>
        </p:nvSpPr>
        <p:spPr>
          <a:xfrm>
            <a:off x="-5026025" y="-3108325"/>
            <a:ext cx="1722437" cy="403225"/>
          </a:xfrm>
          <a:prstGeom prst="roundRect">
            <a:avLst>
              <a:gd name="adj" fmla="val 8824"/>
            </a:avLst>
          </a:prstGeom>
          <a:solidFill>
            <a:srgbClr val="C00000"/>
          </a:solidFill>
          <a:ln>
            <a:solidFill>
              <a:srgbClr val="66FFCC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>
                <a:latin typeface="Bodoni MT Black" panose="02070A03080606020203" pitchFamily="18" charset="0"/>
              </a:rPr>
              <a:t>     </a:t>
            </a:r>
            <a:r>
              <a:rPr lang="en-IN" sz="160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rPr>
              <a:t>FILTER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E057130-4D69-47FB-80B4-D7976F7068D8}"/>
              </a:ext>
            </a:extLst>
          </p:cNvPr>
          <p:cNvGraphicFramePr>
            <a:graphicFrameLocks/>
          </p:cNvGraphicFramePr>
          <p:nvPr/>
        </p:nvGraphicFramePr>
        <p:xfrm>
          <a:off x="5408613" y="3536950"/>
          <a:ext cx="8502650" cy="539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7EF6D30-6767-43F8-BBF2-E94F6F112B1E}"/>
              </a:ext>
            </a:extLst>
          </p:cNvPr>
          <p:cNvGraphicFramePr>
            <a:graphicFrameLocks/>
          </p:cNvGraphicFramePr>
          <p:nvPr/>
        </p:nvGraphicFramePr>
        <p:xfrm>
          <a:off x="5459413" y="-1277938"/>
          <a:ext cx="8485187" cy="4584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49686374-C4AD-45CF-8775-3D860096852A}"/>
              </a:ext>
            </a:extLst>
          </p:cNvPr>
          <p:cNvGraphicFramePr>
            <a:graphicFrameLocks/>
          </p:cNvGraphicFramePr>
          <p:nvPr/>
        </p:nvGraphicFramePr>
        <p:xfrm>
          <a:off x="-2901950" y="3622675"/>
          <a:ext cx="8116888" cy="529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8B0D1A4D-F164-44A4-91AA-4429D50EDD89}"/>
              </a:ext>
            </a:extLst>
          </p:cNvPr>
          <p:cNvGraphicFramePr>
            <a:graphicFrameLocks/>
          </p:cNvGraphicFramePr>
          <p:nvPr/>
        </p:nvGraphicFramePr>
        <p:xfrm>
          <a:off x="-2835275" y="-1289050"/>
          <a:ext cx="8035925" cy="459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9" name="table">
            <a:extLst>
              <a:ext uri="{FF2B5EF4-FFF2-40B4-BE49-F238E27FC236}">
                <a16:creationId xmlns:a16="http://schemas.microsoft.com/office/drawing/2014/main" id="{6359A666-E990-9DEA-08A5-D38B9D993D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173663" y="723900"/>
            <a:ext cx="1914525" cy="1895475"/>
          </a:xfrm>
          <a:prstGeom prst="rect">
            <a:avLst/>
          </a:prstGeom>
        </p:spPr>
      </p:pic>
      <p:pic>
        <p:nvPicPr>
          <p:cNvPr id="20" name="table">
            <a:extLst>
              <a:ext uri="{FF2B5EF4-FFF2-40B4-BE49-F238E27FC236}">
                <a16:creationId xmlns:a16="http://schemas.microsoft.com/office/drawing/2014/main" id="{5642E7FD-E259-7D61-6750-5563F6C22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229225" y="2705100"/>
            <a:ext cx="1962150" cy="6121400"/>
          </a:xfrm>
          <a:prstGeom prst="rect">
            <a:avLst/>
          </a:prstGeom>
        </p:spPr>
      </p:pic>
      <p:pic>
        <p:nvPicPr>
          <p:cNvPr id="10243" name="Rectangle: Rounded Corners 26">
            <a:extLst>
              <a:ext uri="{FF2B5EF4-FFF2-40B4-BE49-F238E27FC236}">
                <a16:creationId xmlns:a16="http://schemas.microsoft.com/office/drawing/2014/main" id="{76F5299B-B269-31DD-107B-7449A769CE46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48275" y="-2228850"/>
            <a:ext cx="1971675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Rectangle: Rounded Corners 27">
            <a:extLst>
              <a:ext uri="{FF2B5EF4-FFF2-40B4-BE49-F238E27FC236}">
                <a16:creationId xmlns:a16="http://schemas.microsoft.com/office/drawing/2014/main" id="{9F8695D9-AD5D-11CA-D96C-F989FED8A5D6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19700" y="-1200150"/>
            <a:ext cx="1971675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AD4A85E-CD26-46A1-A379-3F5BB7AAEC7A}"/>
              </a:ext>
            </a:extLst>
          </p:cNvPr>
          <p:cNvSpPr/>
          <p:nvPr/>
        </p:nvSpPr>
        <p:spPr>
          <a:xfrm>
            <a:off x="-5116513" y="-166688"/>
            <a:ext cx="1758950" cy="723901"/>
          </a:xfrm>
          <a:prstGeom prst="roundRect">
            <a:avLst>
              <a:gd name="adj" fmla="val 8824"/>
            </a:avLst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66FFCC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>
                <a:latin typeface="Bodoni MT Black" panose="02070A03080606020203" pitchFamily="18" charset="0"/>
              </a:rPr>
              <a:t>     </a:t>
            </a:r>
            <a:r>
              <a:rPr lang="en-IN" sz="160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rPr>
              <a:t>REGION</a:t>
            </a:r>
            <a:r>
              <a:rPr lang="en-IN" sz="1600" baseline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rPr>
              <a:t> SALES</a:t>
            </a:r>
            <a:endParaRPr lang="en-IN" sz="1600">
              <a:solidFill>
                <a:schemeClr val="bg1">
                  <a:lumMod val="95000"/>
                </a:schemeClr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545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084A82-1443-83EE-0F47-50FA57E86803}"/>
              </a:ext>
            </a:extLst>
          </p:cNvPr>
          <p:cNvGraphicFramePr>
            <a:graphicFrameLocks noGrp="1"/>
          </p:cNvGraphicFramePr>
          <p:nvPr/>
        </p:nvGraphicFramePr>
        <p:xfrm>
          <a:off x="-14578013" y="-6035675"/>
          <a:ext cx="7287025" cy="32623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16">
                  <a:extLst>
                    <a:ext uri="{9D8B030D-6E8A-4147-A177-3AD203B41FA5}">
                      <a16:colId xmlns:a16="http://schemas.microsoft.com/office/drawing/2014/main" val="3074723309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114113500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99966692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28699309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92830158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330871735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509458095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53391816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52275002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881077664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2433472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00625998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81177858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743484754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559845787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460570989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189791878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486887098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921572044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60624952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761196539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435349510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924631347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244849678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42038859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403168437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58720872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073323320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648351903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4157763275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186961207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33065373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81416960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391358627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71285962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115487610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777263824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701706099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765161127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99006263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093034880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850755312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519710807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76916213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635328468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163680564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537112448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84622901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22646070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132260818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380753836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467797244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66127905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469808220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689740720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63629257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081087650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22054951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367574233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4174663223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2342450585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3125671557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769492924"/>
                    </a:ext>
                  </a:extLst>
                </a:gridCol>
                <a:gridCol w="112243">
                  <a:extLst>
                    <a:ext uri="{9D8B030D-6E8A-4147-A177-3AD203B41FA5}">
                      <a16:colId xmlns:a16="http://schemas.microsoft.com/office/drawing/2014/main" val="975749209"/>
                    </a:ext>
                  </a:extLst>
                </a:gridCol>
              </a:tblGrid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7677460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2325798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137766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834569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6736283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0387259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2932886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6964900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6600432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420424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825553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7773769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8031705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5864432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6625627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60378325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8229990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2555713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9307655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6035450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9505183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52554123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82446607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56750345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0648592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4168559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2528098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5137556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0718476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5985997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1293550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1935595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8791239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10775005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4161358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52804923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1129045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5027611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7921443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3993040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8689292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8515083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8928267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46011637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7456084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2566738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1040957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008126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4632889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3419293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3702034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3771757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9159189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523451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59798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031155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81164045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6661056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9569216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42125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1021996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2011015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3850036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8913581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0249537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4130616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633218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84447883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18148693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9674699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7988353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4337888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96816176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5843911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247743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88412354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7142467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6245889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074338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82641357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3052282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51653982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0449503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3667351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4619304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07559345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88772941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4030913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59921840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66545973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28034598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24021019"/>
                  </a:ext>
                </a:extLst>
              </a:tr>
              <a:tr h="35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>
                          <a:effectLst/>
                        </a:rPr>
                        <a:t> </a:t>
                      </a:r>
                      <a:endParaRPr lang="en-IN" sz="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" u="none" strike="noStrike" dirty="0">
                          <a:effectLst/>
                        </a:rPr>
                        <a:t> </a:t>
                      </a:r>
                      <a:endParaRPr lang="en-IN" sz="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9875748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4751D6E-41C1-71BD-CDFE-B3A8616E3DB5}"/>
              </a:ext>
            </a:extLst>
          </p:cNvPr>
          <p:cNvSpPr/>
          <p:nvPr/>
        </p:nvSpPr>
        <p:spPr>
          <a:xfrm>
            <a:off x="-14773275" y="-5949950"/>
            <a:ext cx="38690550" cy="171291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B948D2-5B89-AE77-9E10-986C622ED670}"/>
              </a:ext>
            </a:extLst>
          </p:cNvPr>
          <p:cNvSpPr/>
          <p:nvPr/>
        </p:nvSpPr>
        <p:spPr>
          <a:xfrm>
            <a:off x="-8121650" y="-2363788"/>
            <a:ext cx="22720300" cy="12426951"/>
          </a:xfrm>
          <a:prstGeom prst="rect">
            <a:avLst/>
          </a:prstGeom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BFAAD-D7C0-A24C-0D5A-D5C46E32F590}"/>
              </a:ext>
            </a:extLst>
          </p:cNvPr>
          <p:cNvSpPr/>
          <p:nvPr/>
        </p:nvSpPr>
        <p:spPr>
          <a:xfrm>
            <a:off x="3152775" y="-2144713"/>
            <a:ext cx="325438" cy="12115801"/>
          </a:xfrm>
          <a:prstGeom prst="rect">
            <a:avLst/>
          </a:prstGeom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26DFB6-BC8F-78FC-F03C-D7AA8B2B57B7}"/>
              </a:ext>
            </a:extLst>
          </p:cNvPr>
          <p:cNvSpPr/>
          <p:nvPr/>
        </p:nvSpPr>
        <p:spPr>
          <a:xfrm>
            <a:off x="-8037513" y="3683000"/>
            <a:ext cx="22598063" cy="3206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3FE1DC-0456-952A-A67B-B17C1D64C4E0}"/>
              </a:ext>
            </a:extLst>
          </p:cNvPr>
          <p:cNvSpPr/>
          <p:nvPr/>
        </p:nvSpPr>
        <p:spPr>
          <a:xfrm>
            <a:off x="-13535025" y="-4094163"/>
            <a:ext cx="5135562" cy="14071601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0"/>
                  <a:shade val="30000"/>
                  <a:satMod val="11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>
                <a:solidFill>
                  <a:schemeClr val="dk1"/>
                </a:solidFill>
              </a:rPr>
              <a:t>                                                                 </a:t>
            </a:r>
            <a:endParaRPr lang="en-IN" sz="3600">
              <a:solidFill>
                <a:schemeClr val="bg2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53E8BC-02DF-A0D2-EB15-8F2C9456AD86}"/>
              </a:ext>
            </a:extLst>
          </p:cNvPr>
          <p:cNvSpPr/>
          <p:nvPr/>
        </p:nvSpPr>
        <p:spPr>
          <a:xfrm>
            <a:off x="-8951913" y="-5719763"/>
            <a:ext cx="22948901" cy="1323975"/>
          </a:xfrm>
          <a:prstGeom prst="roundRect">
            <a:avLst>
              <a:gd name="adj" fmla="val 38701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/>
              <a:t>                                                    </a:t>
            </a:r>
            <a:r>
              <a:rPr lang="en-IN" sz="1100" baseline="0"/>
              <a:t>                       </a:t>
            </a:r>
          </a:p>
          <a:p>
            <a:pPr algn="l"/>
            <a:r>
              <a:rPr lang="en-IN" sz="1100" baseline="0"/>
              <a:t>                                                                            </a:t>
            </a:r>
            <a:r>
              <a:rPr lang="en-IN" sz="1100"/>
              <a:t>   </a:t>
            </a:r>
            <a:r>
              <a:rPr lang="en-IN" sz="3600">
                <a:solidFill>
                  <a:srgbClr val="66FFCC"/>
                </a:solidFill>
                <a:latin typeface="Algerian" panose="04020705040A02060702" pitchFamily="82" charset="0"/>
              </a:rPr>
              <a:t>GLOBAL ECOMMERCE SALES DASHBOARD                                </a:t>
            </a:r>
            <a:r>
              <a:rPr lang="en-IN" sz="2800">
                <a:solidFill>
                  <a:schemeClr val="tx2">
                    <a:lumMod val="25000"/>
                    <a:lumOff val="75000"/>
                  </a:schemeClr>
                </a:solidFill>
                <a:latin typeface="Algerian" panose="04020705040A02060702" pitchFamily="82" charset="0"/>
              </a:rPr>
              <a:t>sales</a:t>
            </a:r>
            <a:r>
              <a:rPr lang="en-IN" sz="2800" baseline="0">
                <a:solidFill>
                  <a:schemeClr val="tx2">
                    <a:lumMod val="25000"/>
                    <a:lumOff val="75000"/>
                  </a:schemeClr>
                </a:solidFill>
                <a:latin typeface="Algerian" panose="04020705040A02060702" pitchFamily="82" charset="0"/>
              </a:rPr>
              <a:t> overview</a:t>
            </a:r>
            <a:r>
              <a:rPr lang="en-IN" sz="2800">
                <a:solidFill>
                  <a:schemeClr val="tx2">
                    <a:lumMod val="25000"/>
                    <a:lumOff val="75000"/>
                  </a:schemeClr>
                </a:solidFill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6725B1-788D-663D-122C-8C4734AD807D}"/>
              </a:ext>
            </a:extLst>
          </p:cNvPr>
          <p:cNvSpPr/>
          <p:nvPr/>
        </p:nvSpPr>
        <p:spPr>
          <a:xfrm>
            <a:off x="-7602538" y="-4176713"/>
            <a:ext cx="4711700" cy="15430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/>
              <a:t>                                                   </a:t>
            </a:r>
          </a:p>
          <a:p>
            <a:pPr algn="l"/>
            <a:r>
              <a:rPr lang="en-IN" sz="1100" baseline="0"/>
              <a:t>                                                             </a:t>
            </a:r>
            <a:r>
              <a:rPr lang="en-IN" sz="2000" baseline="0">
                <a:ln>
                  <a:solidFill>
                    <a:schemeClr val="bg1">
                      <a:lumMod val="75000"/>
                    </a:schemeClr>
                  </a:solidFill>
                </a:ln>
                <a:latin typeface="Bodoni MT Black" panose="02070A03080606020203" pitchFamily="18" charset="0"/>
              </a:rPr>
              <a:t>Total Sales</a:t>
            </a:r>
          </a:p>
          <a:p>
            <a:pPr algn="l"/>
            <a:endParaRPr lang="en-IN" sz="2000" baseline="0">
              <a:ln>
                <a:solidFill>
                  <a:schemeClr val="bg1">
                    <a:lumMod val="75000"/>
                  </a:schemeClr>
                </a:solidFill>
              </a:ln>
              <a:latin typeface="Bodoni MT Black" panose="02070A03080606020203" pitchFamily="18" charset="0"/>
            </a:endParaRPr>
          </a:p>
          <a:p>
            <a:pPr algn="l"/>
            <a:r>
              <a:rPr lang="en-IN" sz="2000" baseline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rPr>
              <a:t>                </a:t>
            </a:r>
            <a:r>
              <a:rPr lang="en-IN" sz="2000" b="0" i="0" u="none" strike="noStrike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Eras Bold ITC" panose="020B0907030504020204" pitchFamily="34" charset="0"/>
                <a:ea typeface="+mn-ea"/>
                <a:cs typeface="Aharoni" panose="02010803020104030203" pitchFamily="2" charset="-79"/>
              </a:rPr>
              <a:t>₹ 4,84,559.34</a:t>
            </a:r>
            <a:r>
              <a:rPr lang="en-IN" sz="200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Eras Bold ITC" panose="020B0907030504020204" pitchFamily="34" charset="0"/>
                <a:cs typeface="Aharoni" panose="02010803020104030203" pitchFamily="2" charset="-79"/>
              </a:rPr>
              <a:t> </a:t>
            </a:r>
            <a:endParaRPr lang="en-IN" sz="2000">
              <a:ln>
                <a:noFill/>
              </a:ln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  <a:cs typeface="Aharoni" panose="02010803020104030203" pitchFamily="2" charset="-79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54E0E3-49EC-4E7A-A7C1-6122B289DF8F}"/>
              </a:ext>
            </a:extLst>
          </p:cNvPr>
          <p:cNvSpPr/>
          <p:nvPr/>
        </p:nvSpPr>
        <p:spPr>
          <a:xfrm>
            <a:off x="-2074863" y="-4170363"/>
            <a:ext cx="4716463" cy="156368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 i="0" u="none" strike="noStrike"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IN" sz="1100" b="0" i="0" u="none" strike="noStrike" baseline="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</a:t>
            </a:r>
            <a:r>
              <a:rPr lang="en-IN" sz="200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latin typeface="Bodoni MT Black" panose="02070A03080606020203" pitchFamily="18" charset="0"/>
              </a:rPr>
              <a:t>Total</a:t>
            </a:r>
            <a:r>
              <a:rPr lang="en-IN" sz="2000" baseline="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latin typeface="Bodoni MT Black" panose="02070A03080606020203" pitchFamily="18" charset="0"/>
              </a:rPr>
              <a:t> Orders</a:t>
            </a:r>
          </a:p>
          <a:p>
            <a:pPr algn="l"/>
            <a:r>
              <a:rPr lang="en-IN" sz="2000" baseline="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latin typeface="Bodoni MT Black" panose="02070A03080606020203" pitchFamily="18" charset="0"/>
              </a:rPr>
              <a:t>       </a:t>
            </a:r>
          </a:p>
          <a:p>
            <a:pPr algn="l"/>
            <a:r>
              <a:rPr lang="en-IN" sz="2000" baseline="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latin typeface="Bodoni MT Black" panose="02070A03080606020203" pitchFamily="18" charset="0"/>
              </a:rPr>
              <a:t>                 </a:t>
            </a:r>
            <a:r>
              <a:rPr lang="en-IN" sz="2000" baseline="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    </a:t>
            </a:r>
            <a:r>
              <a:rPr lang="en-IN" sz="2000" b="0" i="0" u="none" strike="noStrike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Eras Bold ITC" panose="020B09070305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2000</a:t>
            </a:r>
            <a:r>
              <a:rPr lang="en-IN" sz="200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Eras Bold ITC" panose="020B09070305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IN" sz="2000" baseline="0"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Eras Bold ITC" panose="020B0907030504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l"/>
            <a:endParaRPr lang="en-IN" sz="2000"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  <a:latin typeface="Bodoni MT Black" panose="02070A03080606020203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048093-B6B1-48A2-B34A-B03CA3AB8407}"/>
              </a:ext>
            </a:extLst>
          </p:cNvPr>
          <p:cNvSpPr/>
          <p:nvPr/>
        </p:nvSpPr>
        <p:spPr>
          <a:xfrm>
            <a:off x="3302000" y="-4157663"/>
            <a:ext cx="4716463" cy="15621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/>
              <a:t>                                        </a:t>
            </a:r>
          </a:p>
          <a:p>
            <a:pPr algn="l"/>
            <a:r>
              <a:rPr lang="en-IN" sz="1100" baseline="0"/>
              <a:t>                                             </a:t>
            </a:r>
            <a:r>
              <a:rPr lang="en-IN" sz="1800" baseline="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latin typeface="Cooper Black" panose="0208090404030B0204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AVG Order Value   </a:t>
            </a:r>
            <a:endParaRPr lang="en-IN" sz="1100" b="0" i="0" u="none" strike="noStrike" baseline="0">
              <a:ln>
                <a:noFill/>
              </a:ln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IN" sz="1100" b="0" i="0" u="none" strike="noStrike" baseline="0">
                <a:ln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algn="l"/>
            <a:r>
              <a:rPr lang="en-IN" sz="1100" b="0" i="0" u="none" strike="noStrike" baseline="0">
                <a:ln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</a:t>
            </a:r>
          </a:p>
          <a:p>
            <a:pPr algn="l"/>
            <a:r>
              <a:rPr lang="en-IN" sz="1100" b="0" i="0" u="none" strike="noStrike" baseline="0">
                <a:ln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    </a:t>
            </a:r>
            <a:r>
              <a:rPr lang="en-IN" sz="2000" b="0" i="0" u="none" strike="noStrike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chemeClr val="l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  <a:ea typeface="+mn-ea"/>
                <a:cs typeface="+mn-cs"/>
              </a:rPr>
              <a:t>₹ 242.28</a:t>
            </a:r>
            <a:r>
              <a:rPr lang="en-IN" sz="200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 </a:t>
            </a:r>
            <a:endParaRPr lang="en-IN" sz="2000"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Eras Bold ITC" panose="020B0907030504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BFC94F-6D01-4FE8-BF1D-CDD2EF913F35}"/>
              </a:ext>
            </a:extLst>
          </p:cNvPr>
          <p:cNvSpPr/>
          <p:nvPr/>
        </p:nvSpPr>
        <p:spPr>
          <a:xfrm>
            <a:off x="8894763" y="-4159250"/>
            <a:ext cx="4722812" cy="15621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  <a:p>
            <a:pPr algn="l"/>
            <a:r>
              <a:rPr lang="en-IN" sz="1100" baseline="0"/>
              <a:t>                                                         </a:t>
            </a:r>
            <a:r>
              <a:rPr lang="en-IN" sz="1800" baseline="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latin typeface="Cooper Black" panose="0208090404030B020404" pitchFamily="18" charset="0"/>
              </a:rPr>
              <a:t>Shipping Cost</a:t>
            </a:r>
          </a:p>
          <a:p>
            <a:pPr algn="l"/>
            <a:endParaRPr lang="en-IN" sz="1800" baseline="0"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  <a:latin typeface="Cooper Black" panose="0208090404030B020404" pitchFamily="18" charset="0"/>
            </a:endParaRPr>
          </a:p>
          <a:p>
            <a:pPr algn="l"/>
            <a:r>
              <a:rPr lang="en-IN" sz="1800" baseline="0"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  <a:latin typeface="Cooper Black" panose="0208090404030B020404" pitchFamily="18" charset="0"/>
              </a:rPr>
              <a:t>                           </a:t>
            </a:r>
            <a:r>
              <a:rPr lang="en-IN" sz="2000" b="0" i="0" u="none" strike="noStrike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chemeClr val="lt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Eras Bold ITC" panose="020B0907030504020204" pitchFamily="34" charset="0"/>
                <a:ea typeface="+mn-ea"/>
                <a:cs typeface="+mn-cs"/>
              </a:rPr>
              <a:t>₹ 25,804.24</a:t>
            </a:r>
            <a:r>
              <a:rPr lang="en-IN" sz="200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Eras Bold ITC" panose="020B0907030504020204" pitchFamily="34" charset="0"/>
              </a:rPr>
              <a:t> </a:t>
            </a:r>
          </a:p>
        </p:txBody>
      </p:sp>
      <p:pic>
        <p:nvPicPr>
          <p:cNvPr id="8204" name="Picture 25">
            <a:extLst>
              <a:ext uri="{FF2B5EF4-FFF2-40B4-BE49-F238E27FC236}">
                <a16:creationId xmlns:a16="http://schemas.microsoft.com/office/drawing/2014/main" id="{23D3F0DF-84F6-EDBD-4DB8-53E058409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91588" y="-5826125"/>
            <a:ext cx="1485900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96FF5BF-F999-4E60-88C5-ECF74E3487A5}"/>
              </a:ext>
            </a:extLst>
          </p:cNvPr>
          <p:cNvGraphicFramePr>
            <a:graphicFrameLocks/>
          </p:cNvGraphicFramePr>
          <p:nvPr/>
        </p:nvGraphicFramePr>
        <p:xfrm>
          <a:off x="-7905750" y="-2084388"/>
          <a:ext cx="10902950" cy="5622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29B243C-11EE-4F16-A4DB-18DC87F9E744}"/>
              </a:ext>
            </a:extLst>
          </p:cNvPr>
          <p:cNvGraphicFramePr>
            <a:graphicFrameLocks/>
          </p:cNvGraphicFramePr>
          <p:nvPr/>
        </p:nvGraphicFramePr>
        <p:xfrm>
          <a:off x="3544888" y="-2143125"/>
          <a:ext cx="10291762" cy="5748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EAAEB52-C86A-4148-A94A-2E23F792333F}"/>
              </a:ext>
            </a:extLst>
          </p:cNvPr>
          <p:cNvGraphicFramePr>
            <a:graphicFrameLocks/>
          </p:cNvGraphicFramePr>
          <p:nvPr/>
        </p:nvGraphicFramePr>
        <p:xfrm>
          <a:off x="-7997825" y="4006850"/>
          <a:ext cx="11077575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AB2C0DFD-A471-4A12-A4D2-3D01C6936426}"/>
              </a:ext>
            </a:extLst>
          </p:cNvPr>
          <p:cNvGraphicFramePr>
            <a:graphicFrameLocks/>
          </p:cNvGraphicFramePr>
          <p:nvPr/>
        </p:nvGraphicFramePr>
        <p:xfrm>
          <a:off x="3690938" y="4171950"/>
          <a:ext cx="10194925" cy="551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84B110DB-1E7B-356B-CAAD-ACC182C9C6B7}"/>
              </a:ext>
            </a:extLst>
          </p:cNvPr>
          <p:cNvSpPr/>
          <p:nvPr/>
        </p:nvSpPr>
        <p:spPr>
          <a:xfrm>
            <a:off x="-13435013" y="-3800475"/>
            <a:ext cx="4849813" cy="102235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/>
              <a:t>         </a:t>
            </a:r>
          </a:p>
          <a:p>
            <a:pPr algn="l"/>
            <a:r>
              <a:rPr lang="en-IN" sz="1100" baseline="0"/>
              <a:t>                                                          </a:t>
            </a:r>
            <a:r>
              <a:rPr lang="en-IN" sz="2800" baseline="0">
                <a:latin typeface="Eras Bold ITC" panose="020B0907030504020204" pitchFamily="34" charset="0"/>
              </a:rPr>
              <a:t>FILTER</a:t>
            </a:r>
            <a:endParaRPr lang="en-IN" sz="2800">
              <a:latin typeface="Eras Bold ITC" panose="020B0907030504020204" pitchFamily="34" charset="0"/>
            </a:endParaRPr>
          </a:p>
        </p:txBody>
      </p:sp>
      <p:pic>
        <p:nvPicPr>
          <p:cNvPr id="18" name="table">
            <a:extLst>
              <a:ext uri="{FF2B5EF4-FFF2-40B4-BE49-F238E27FC236}">
                <a16:creationId xmlns:a16="http://schemas.microsoft.com/office/drawing/2014/main" id="{52047BD5-3E89-17DB-1B02-31318C0C6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195300" y="1430338"/>
            <a:ext cx="4376737" cy="3600450"/>
          </a:xfrm>
          <a:prstGeom prst="rect">
            <a:avLst/>
          </a:prstGeom>
        </p:spPr>
      </p:pic>
      <p:pic>
        <p:nvPicPr>
          <p:cNvPr id="19" name="table">
            <a:extLst>
              <a:ext uri="{FF2B5EF4-FFF2-40B4-BE49-F238E27FC236}">
                <a16:creationId xmlns:a16="http://schemas.microsoft.com/office/drawing/2014/main" id="{5FF9AC21-99C0-6377-4F1D-7AA962D527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3366750" y="5514975"/>
            <a:ext cx="4565650" cy="1751013"/>
          </a:xfrm>
          <a:prstGeom prst="rect">
            <a:avLst/>
          </a:prstGeom>
        </p:spPr>
      </p:pic>
      <p:pic>
        <p:nvPicPr>
          <p:cNvPr id="20" name="table">
            <a:extLst>
              <a:ext uri="{FF2B5EF4-FFF2-40B4-BE49-F238E27FC236}">
                <a16:creationId xmlns:a16="http://schemas.microsoft.com/office/drawing/2014/main" id="{487836A9-03CD-0143-6917-EFD70A5000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3393738" y="7842250"/>
            <a:ext cx="4687888" cy="1865313"/>
          </a:xfrm>
          <a:prstGeom prst="rect">
            <a:avLst/>
          </a:prstGeom>
        </p:spPr>
      </p:pic>
      <p:pic>
        <p:nvPicPr>
          <p:cNvPr id="8195" name="Rectangle 38">
            <a:extLst>
              <a:ext uri="{FF2B5EF4-FFF2-40B4-BE49-F238E27FC236}">
                <a16:creationId xmlns:a16="http://schemas.microsoft.com/office/drawing/2014/main" id="{C9AB9B80-D6A7-1191-E593-14816E2C414B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454063" y="-1244600"/>
            <a:ext cx="500062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3477475-D2CA-457B-8BFD-825777361F3E}"/>
              </a:ext>
            </a:extLst>
          </p:cNvPr>
          <p:cNvSpPr/>
          <p:nvPr/>
        </p:nvSpPr>
        <p:spPr>
          <a:xfrm>
            <a:off x="-13411200" y="-2492375"/>
            <a:ext cx="4900612" cy="10366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baseline="0"/>
              <a:t>         </a:t>
            </a:r>
          </a:p>
          <a:p>
            <a:pPr algn="l"/>
            <a:r>
              <a:rPr lang="en-IN" sz="1100" baseline="0"/>
              <a:t>                                  </a:t>
            </a:r>
            <a:r>
              <a:rPr lang="en-IN" sz="2800" baseline="0">
                <a:latin typeface="Eras Bold ITC" panose="020B0907030504020204" pitchFamily="34" charset="0"/>
              </a:rPr>
              <a:t>SALES OVERVIEW</a:t>
            </a:r>
            <a:endParaRPr lang="en-IN" sz="2800">
              <a:latin typeface="Eras Bold ITC" panose="020B0907030504020204" pitchFamily="34" charset="0"/>
            </a:endParaRPr>
          </a:p>
        </p:txBody>
      </p:sp>
      <p:pic>
        <p:nvPicPr>
          <p:cNvPr id="8193" name="Rectangle 40">
            <a:extLst>
              <a:ext uri="{FF2B5EF4-FFF2-40B4-BE49-F238E27FC236}">
                <a16:creationId xmlns:a16="http://schemas.microsoft.com/office/drawing/2014/main" id="{634B267B-2DDE-8D7B-4F80-B9402A39E960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435013" y="-15875"/>
            <a:ext cx="500062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31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572" y="144018"/>
            <a:ext cx="9144000" cy="51435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NOTES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Notes &amp; Assumptions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 about source, cleaning and calculations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91440" cy="749808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2161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 → sheet: global_ecommerce_sales. 2,000 order-level rows covering Jan 2023 – Dec 2025 across 5 regions and 20 countries.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8503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91440" cy="749808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0391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Steps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headers → Set correct data types → Checked for nulls &amp; duplicates → Added calculated columns (net_sales, profit_margin, price_tier, profit_status) → Final clean table loaded to model.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8503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91440" cy="1060704"/>
          </a:xfrm>
          <a:prstGeom prst="rect">
            <a:avLst/>
          </a:prstGeom>
          <a:solidFill>
            <a:srgbClr val="B5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8620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Logic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108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net_sales = Total_Sales × (1 − Discount%/100)   |   profit_margin = Profit ÷ Total_Sales   |   price_tier based on Unit_Price bands   |   profit_status = "profit" if Profit &gt; 0 else "loss"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6850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 Sales Analysis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 &amp;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cleaned data and KPIs tell 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251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710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drives the business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total revenue comes from Furniture. Focus inventory &amp; marketing on Standing Desk Converter, Ergonomic Chair and L-Shaped Desk.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251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252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2710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+ North America = 56%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regions deliver more than half of all sales. Prioritise stock levels and campaigns 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251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350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3682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profitability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orders are profitable. Review the 272 loss-making orders (mostly low-price Office Supplies + high shipping).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251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2350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3682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&amp; PayPal 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account for ~70% of revenue. Keep checkout experience smooth and secure for these channels.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4251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447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4655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is the peak month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monthly sales ($51K). Plan promotions and inventory for Q4 peak season.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337560"/>
            <a:ext cx="4251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3447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4655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is the largest segment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generate 53% of sales. Corporate follows at 30%. Create segment-specific campaigns.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 Sales Analysis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8DD75-87A2-1830-0B1E-6623C605B4E5}"/>
              </a:ext>
            </a:extLst>
          </p:cNvPr>
          <p:cNvSpPr txBox="1"/>
          <p:nvPr/>
        </p:nvSpPr>
        <p:spPr>
          <a:xfrm>
            <a:off x="2286000" y="240247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</a:t>
            </a:r>
            <a:r>
              <a:rPr lang="en-US" sz="1600" dirty="0">
                <a:solidFill>
                  <a:srgbClr val="D4AF70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THANK YOU</a:t>
            </a:r>
            <a:r>
              <a:rPr lang="en-IN" sz="1600" dirty="0">
                <a:solidFill>
                  <a:srgbClr val="D4AF70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 </a:t>
            </a:r>
            <a:endParaRPr lang="en-IN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915699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168</TotalTime>
  <Words>9345</Words>
  <Application>Microsoft Office PowerPoint</Application>
  <PresentationFormat>On-screen Show (16:9)</PresentationFormat>
  <Paragraphs>8481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30" baseType="lpstr">
      <vt:lpstr>ADLaM Display</vt:lpstr>
      <vt:lpstr>Algerian</vt:lpstr>
      <vt:lpstr>Amasis MT Pro Black</vt:lpstr>
      <vt:lpstr>Amasis MT Pro Medium</vt:lpstr>
      <vt:lpstr>Amiri</vt:lpstr>
      <vt:lpstr>Aptos</vt:lpstr>
      <vt:lpstr>Aptos Narrow</vt:lpstr>
      <vt:lpstr>Arial</vt:lpstr>
      <vt:lpstr>Arial Nova Light</vt:lpstr>
      <vt:lpstr>Bodoni MT Black</vt:lpstr>
      <vt:lpstr>Calibri</vt:lpstr>
      <vt:lpstr>Consolas</vt:lpstr>
      <vt:lpstr>Cooper Black</vt:lpstr>
      <vt:lpstr>Eras Bold ITC</vt:lpstr>
      <vt:lpstr>Franklin Gothic Heavy</vt:lpstr>
      <vt:lpstr>Franklin Gothic Medium</vt:lpstr>
      <vt:lpstr>Georgia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>Data Cleaning · KPI · DAX · Insights</dc:subject>
  <dc:creator>E-Commerce Analytics</dc:creator>
  <cp:lastModifiedBy>S0106744</cp:lastModifiedBy>
  <cp:revision>7</cp:revision>
  <dcterms:created xsi:type="dcterms:W3CDTF">2026-10-08T18:05:52Z</dcterms:created>
  <dcterms:modified xsi:type="dcterms:W3CDTF">2026-10-09T11:45:15Z</dcterms:modified>
</cp:coreProperties>
</file>